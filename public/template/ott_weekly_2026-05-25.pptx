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18288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762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762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762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25400" cap="flat">
              <a:noFill/>
              <a:miter lim="400000"/>
            </a:ln>
          </a:left>
          <a:right>
            <a:ln w="25400" cap="flat">
              <a:noFill/>
              <a:miter lim="400000"/>
            </a:ln>
          </a:right>
          <a:top>
            <a:ln w="25400" cap="flat">
              <a:noFill/>
              <a:miter lim="400000"/>
            </a:ln>
          </a:top>
          <a:bottom>
            <a:ln w="25400" cap="flat">
              <a:noFill/>
              <a:miter lim="400000"/>
            </a:ln>
          </a:bottom>
          <a:insideH>
            <a:ln w="25400" cap="flat">
              <a:noFill/>
              <a:miter lim="400000"/>
            </a:ln>
          </a:insideH>
          <a:insideV>
            <a:ln w="254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noFill/>
              <a:miter lim="400000"/>
            </a:ln>
          </a:left>
          <a:right>
            <a:ln w="25400" cap="flat">
              <a:noFill/>
              <a:miter lim="400000"/>
            </a:ln>
          </a:right>
          <a:top>
            <a:ln w="25400" cap="flat">
              <a:noFill/>
              <a:miter lim="400000"/>
            </a:ln>
          </a:top>
          <a:bottom>
            <a:ln w="25400" cap="flat">
              <a:noFill/>
              <a:miter lim="400000"/>
            </a:ln>
          </a:bottom>
          <a:insideH>
            <a:ln w="25400" cap="flat">
              <a:noFill/>
              <a:miter lim="400000"/>
            </a:ln>
          </a:insideH>
          <a:insideV>
            <a:ln w="254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25400" cap="flat">
              <a:noFill/>
              <a:miter lim="400000"/>
            </a:ln>
          </a:left>
          <a:right>
            <a:ln w="25400" cap="flat">
              <a:noFill/>
              <a:miter lim="400000"/>
            </a:ln>
          </a:right>
          <a:top>
            <a:ln w="101600" cap="flat">
              <a:solidFill>
                <a:srgbClr val="000000"/>
              </a:solidFill>
              <a:prstDash val="solid"/>
              <a:round/>
            </a:ln>
          </a:top>
          <a:bottom>
            <a:ln w="508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noFill/>
              <a:miter lim="400000"/>
            </a:ln>
          </a:insideH>
          <a:insideV>
            <a:ln w="254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noFill/>
              <a:miter lim="400000"/>
            </a:ln>
          </a:left>
          <a:right>
            <a:ln w="254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508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noFill/>
              <a:miter lim="400000"/>
            </a:ln>
          </a:insideH>
          <a:insideV>
            <a:ln w="254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762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round/>
            </a:ln>
          </a:left>
          <a:right>
            <a:ln w="25400" cap="flat">
              <a:solidFill>
                <a:srgbClr val="000000"/>
              </a:solidFill>
              <a:prstDash val="solid"/>
              <a:round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solidFill>
                <a:srgbClr val="000000"/>
              </a:solidFill>
              <a:prstDash val="solid"/>
              <a:round/>
            </a:ln>
          </a:insideH>
          <a:insideV>
            <a:ln w="254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round/>
            </a:ln>
          </a:left>
          <a:right>
            <a:ln w="25400" cap="flat">
              <a:solidFill>
                <a:srgbClr val="000000"/>
              </a:solidFill>
              <a:prstDash val="solid"/>
              <a:round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solidFill>
                <a:srgbClr val="000000"/>
              </a:solidFill>
              <a:prstDash val="solid"/>
              <a:round/>
            </a:ln>
          </a:insideH>
          <a:insideV>
            <a:ln w="254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round/>
            </a:ln>
          </a:left>
          <a:right>
            <a:ln w="25400" cap="flat">
              <a:solidFill>
                <a:srgbClr val="000000"/>
              </a:solidFill>
              <a:prstDash val="solid"/>
              <a:round/>
            </a:ln>
          </a:right>
          <a:top>
            <a:ln w="1016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solidFill>
                <a:srgbClr val="000000"/>
              </a:solidFill>
              <a:prstDash val="solid"/>
              <a:round/>
            </a:ln>
          </a:insideH>
          <a:insideV>
            <a:ln w="254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round/>
            </a:ln>
          </a:left>
          <a:right>
            <a:ln w="25400" cap="flat">
              <a:solidFill>
                <a:srgbClr val="000000"/>
              </a:solidFill>
              <a:prstDash val="solid"/>
              <a:round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508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solidFill>
                <a:srgbClr val="000000"/>
              </a:solidFill>
              <a:prstDash val="solid"/>
              <a:round/>
            </a:ln>
          </a:insideH>
          <a:insideV>
            <a:ln w="254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60" d="100"/>
          <a:sy n="60" d="100"/>
        </p:scale>
        <p:origin x="8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tx>
        <c:rich>
          <a:bodyPr rot="0"/>
          <a:lstStyle/>
          <a:p>
            <a:pPr>
              <a:defRPr sz="36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lang="en" sz="3600" b="0" i="0" u="none" strike="noStrike">
                <a:solidFill>
                  <a:srgbClr val="000000"/>
                </a:solidFill>
                <a:latin typeface="Calibri"/>
              </a:rPr>
              <a:t>WAU</a:t>
            </a:r>
          </a:p>
        </c:rich>
      </c:tx>
      <c:layout>
        <c:manualLayout>
          <c:xMode val="edge"/>
          <c:yMode val="edge"/>
          <c:x val="0.45088800000000001"/>
          <c:y val="0"/>
          <c:w val="9.8224900000000004E-2"/>
          <c:h val="0.130609"/>
        </c:manualLayout>
      </c:layout>
      <c:overlay val="1"/>
      <c:spPr>
        <a:noFill/>
        <a:effectLst/>
      </c:spPr>
    </c:title>
    <c:autoTitleDeleted val="0"/>
    <c:plotArea>
      <c:layout>
        <c:manualLayout>
          <c:layoutTarget val="inner"/>
          <c:xMode val="edge"/>
          <c:yMode val="edge"/>
          <c:x val="7.3592199999999997E-2"/>
          <c:y val="0.130609"/>
          <c:w val="0.921408"/>
          <c:h val="0.773866000000000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05-25</c:v>
                </c:pt>
              </c:strCache>
            </c:strRef>
          </c:tx>
          <c:spPr>
            <a:solidFill>
              <a:srgbClr val="DC2626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#.#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4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Sheet1!$B$1:$G$1</c:f>
              <c:strCache>
                <c:ptCount val="6"/>
                <c:pt idx="0">
                  <c:v> Nexa</c:v>
                </c:pt>
                <c:pt idx="1">
                  <c:v>Cupa</c:v>
                </c:pt>
                <c:pt idx="2">
                  <c:v>Tiva</c:v>
                </c:pt>
                <c:pt idx="3">
                  <c:v>Wavo</c:v>
                </c:pt>
                <c:pt idx="4">
                  <c:v>Dizo</c:v>
                </c:pt>
                <c:pt idx="5">
                  <c:v>Wacha</c:v>
                </c:pt>
              </c:strCache>
            </c:strRef>
          </c:cat>
          <c:val>
            <c:numRef>
              <c:f>Sheet1!$B$2:$G$2</c:f>
              <c:numCache>
                <c:formatCode>General</c:formatCode>
                <c:ptCount val="6"/>
                <c:pt idx="0">
                  <c:v>8292725</c:v>
                </c:pt>
                <c:pt idx="1">
                  <c:v>4727426</c:v>
                </c:pt>
                <c:pt idx="2">
                  <c:v>4461468</c:v>
                </c:pt>
                <c:pt idx="3">
                  <c:v>2159285</c:v>
                </c:pt>
                <c:pt idx="4">
                  <c:v>1797138</c:v>
                </c:pt>
                <c:pt idx="5">
                  <c:v>188506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F8-8A4D-AE80-8BB2AEB919DF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05-18</c:v>
                </c:pt>
              </c:strCache>
            </c:strRef>
          </c:tx>
          <c:spPr>
            <a:solidFill>
              <a:srgbClr val="F4B9B9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#.#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Sheet1!$B$1:$G$1</c:f>
              <c:strCache>
                <c:ptCount val="6"/>
                <c:pt idx="0">
                  <c:v> Nexa</c:v>
                </c:pt>
                <c:pt idx="1">
                  <c:v>Cupa</c:v>
                </c:pt>
                <c:pt idx="2">
                  <c:v>Tiva</c:v>
                </c:pt>
                <c:pt idx="3">
                  <c:v>Wavo</c:v>
                </c:pt>
                <c:pt idx="4">
                  <c:v>Dizo</c:v>
                </c:pt>
                <c:pt idx="5">
                  <c:v>Wacha</c:v>
                </c:pt>
              </c:strCache>
            </c:strRef>
          </c:cat>
          <c:val>
            <c:numRef>
              <c:f>Sheet1!$B$3:$G$3</c:f>
              <c:numCache>
                <c:formatCode>General</c:formatCode>
                <c:ptCount val="6"/>
                <c:pt idx="0">
                  <c:v>8338387</c:v>
                </c:pt>
                <c:pt idx="1">
                  <c:v>4194885</c:v>
                </c:pt>
                <c:pt idx="2">
                  <c:v>4308719</c:v>
                </c:pt>
                <c:pt idx="3">
                  <c:v>2173081</c:v>
                </c:pt>
                <c:pt idx="4">
                  <c:v>1882957</c:v>
                </c:pt>
                <c:pt idx="5">
                  <c:v>189666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4F8-8A4D-AE80-8BB2AEB919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1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2900" b="0" i="0" u="none" strike="noStrike">
                <a:solidFill>
                  <a:srgbClr val="000000"/>
                </a:solidFill>
                <a:latin typeface="Calibri"/>
              </a:defRPr>
            </a:pPr>
            <a:endParaRPr lang="ko-KR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0C0C0"/>
              </a:solidFill>
              <a:prstDash val="solid"/>
              <a:round/>
            </a:ln>
          </c:spPr>
        </c:majorGridlines>
        <c:numFmt formatCode="#,###.#,,&quot;M&quot;" sourceLinked="0"/>
        <c:majorTickMark val="out"/>
        <c:minorTickMark val="none"/>
        <c:tickLblPos val="nextTo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2600" b="0" i="0" u="none" strike="noStrike">
                <a:solidFill>
                  <a:srgbClr val="000000"/>
                </a:solidFill>
                <a:latin typeface="Calibri"/>
              </a:defRPr>
            </a:pPr>
            <a:endParaRPr lang="ko-KR"/>
          </a:p>
        </c:txPr>
        <c:crossAx val="2094734552"/>
        <c:crosses val="autoZero"/>
        <c:crossBetween val="between"/>
        <c:majorUnit val="1000000"/>
        <c:minorUnit val="500000"/>
      </c:valAx>
      <c:spPr>
        <a:solidFill>
          <a:srgbClr val="FFFFFF"/>
        </a:solidFill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tx>
        <c:rich>
          <a:bodyPr rot="0"/>
          <a:lstStyle/>
          <a:p>
            <a:pPr>
              <a:defRPr sz="36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lang="en" sz="3600" b="0" i="0" u="none" strike="noStrike">
                <a:solidFill>
                  <a:srgbClr val="000000"/>
                </a:solidFill>
                <a:latin typeface="Calibri"/>
              </a:rPr>
              <a:t>New Installs</a:t>
            </a:r>
          </a:p>
        </c:rich>
      </c:tx>
      <c:layout>
        <c:manualLayout>
          <c:xMode val="edge"/>
          <c:yMode val="edge"/>
          <c:x val="0.38810699999999998"/>
          <c:y val="0"/>
          <c:w val="0.22378500000000001"/>
          <c:h val="0.130609"/>
        </c:manualLayout>
      </c:layout>
      <c:overlay val="1"/>
      <c:spPr>
        <a:noFill/>
        <a:effectLst/>
      </c:spPr>
    </c:title>
    <c:autoTitleDeleted val="0"/>
    <c:plotArea>
      <c:layout>
        <c:manualLayout>
          <c:layoutTarget val="inner"/>
          <c:xMode val="edge"/>
          <c:yMode val="edge"/>
          <c:x val="9.4246999999999997E-2"/>
          <c:y val="0.130609"/>
          <c:w val="0.90075300000000003"/>
          <c:h val="0.773866000000000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05-25</c:v>
                </c:pt>
              </c:strCache>
            </c:strRef>
          </c:tx>
          <c:spPr>
            <a:solidFill>
              <a:srgbClr val="2563EB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#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4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Sheet1!$B$1:$G$1</c:f>
              <c:strCache>
                <c:ptCount val="6"/>
                <c:pt idx="0">
                  <c:v> Nexa</c:v>
                </c:pt>
                <c:pt idx="1">
                  <c:v>Cupa</c:v>
                </c:pt>
                <c:pt idx="2">
                  <c:v>Tiva</c:v>
                </c:pt>
                <c:pt idx="3">
                  <c:v>Wavo</c:v>
                </c:pt>
                <c:pt idx="4">
                  <c:v>Dizo</c:v>
                </c:pt>
                <c:pt idx="5">
                  <c:v>Wacha</c:v>
                </c:pt>
              </c:strCache>
            </c:strRef>
          </c:cat>
          <c:val>
            <c:numRef>
              <c:f>Sheet1!$B$2:$G$2</c:f>
              <c:numCache>
                <c:formatCode>General</c:formatCode>
                <c:ptCount val="6"/>
                <c:pt idx="0">
                  <c:v>107572</c:v>
                </c:pt>
                <c:pt idx="1">
                  <c:v>213890</c:v>
                </c:pt>
                <c:pt idx="2">
                  <c:v>105902</c:v>
                </c:pt>
                <c:pt idx="3">
                  <c:v>24893</c:v>
                </c:pt>
                <c:pt idx="4">
                  <c:v>35686</c:v>
                </c:pt>
                <c:pt idx="5">
                  <c:v>2723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4A-F147-B9F6-8166ED3F4C01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05-18</c:v>
                </c:pt>
              </c:strCache>
            </c:strRef>
          </c:tx>
          <c:spPr>
            <a:solidFill>
              <a:srgbClr val="B9CDF9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#,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Sheet1!$B$1:$G$1</c:f>
              <c:strCache>
                <c:ptCount val="6"/>
                <c:pt idx="0">
                  <c:v> Nexa</c:v>
                </c:pt>
                <c:pt idx="1">
                  <c:v>Cupa</c:v>
                </c:pt>
                <c:pt idx="2">
                  <c:v>Tiva</c:v>
                </c:pt>
                <c:pt idx="3">
                  <c:v>Wavo</c:v>
                </c:pt>
                <c:pt idx="4">
                  <c:v>Dizo</c:v>
                </c:pt>
                <c:pt idx="5">
                  <c:v>Wacha</c:v>
                </c:pt>
              </c:strCache>
            </c:strRef>
          </c:cat>
          <c:val>
            <c:numRef>
              <c:f>Sheet1!$B$3:$G$3</c:f>
              <c:numCache>
                <c:formatCode>General</c:formatCode>
                <c:ptCount val="6"/>
                <c:pt idx="0">
                  <c:v>104952</c:v>
                </c:pt>
                <c:pt idx="1">
                  <c:v>96066</c:v>
                </c:pt>
                <c:pt idx="2">
                  <c:v>82871</c:v>
                </c:pt>
                <c:pt idx="3">
                  <c:v>26814</c:v>
                </c:pt>
                <c:pt idx="4">
                  <c:v>37655</c:v>
                </c:pt>
                <c:pt idx="5">
                  <c:v>2558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4A-F147-B9F6-8166ED3F4C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1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2900" b="0" i="0" u="none" strike="noStrike">
                <a:solidFill>
                  <a:srgbClr val="000000"/>
                </a:solidFill>
                <a:latin typeface="Calibri"/>
              </a:defRPr>
            </a:pPr>
            <a:endParaRPr lang="ko-KR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250000"/>
        </c:scaling>
        <c:delete val="0"/>
        <c:axPos val="l"/>
        <c:majorGridlines>
          <c:spPr>
            <a:ln w="12700" cap="flat">
              <a:solidFill>
                <a:srgbClr val="C0C0C0"/>
              </a:solidFill>
              <a:prstDash val="solid"/>
              <a:round/>
            </a:ln>
          </c:spPr>
        </c:majorGridlines>
        <c:numFmt formatCode="#,###,&quot;K&quot;" sourceLinked="0"/>
        <c:majorTickMark val="out"/>
        <c:minorTickMark val="none"/>
        <c:tickLblPos val="nextTo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2600" b="0" i="0" u="none" strike="noStrike">
                <a:solidFill>
                  <a:srgbClr val="000000"/>
                </a:solidFill>
                <a:latin typeface="Calibri"/>
              </a:defRPr>
            </a:pPr>
            <a:endParaRPr lang="ko-KR"/>
          </a:p>
        </c:txPr>
        <c:crossAx val="2094734552"/>
        <c:crosses val="autoZero"/>
        <c:crossBetween val="between"/>
        <c:majorUnit val="50000"/>
        <c:minorUnit val="25000"/>
      </c:valAx>
      <c:spPr>
        <a:solidFill>
          <a:srgbClr val="FFFFFF"/>
        </a:solidFill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tx>
        <c:rich>
          <a:bodyPr rot="0"/>
          <a:lstStyle/>
          <a:p>
            <a:pPr>
              <a:defRPr sz="36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lang="en" sz="3600" b="0" i="0" u="none" strike="noStrike">
                <a:solidFill>
                  <a:srgbClr val="000000"/>
                </a:solidFill>
                <a:latin typeface="Calibri"/>
              </a:rPr>
              <a:t>Average Time Spent</a:t>
            </a:r>
          </a:p>
        </c:rich>
      </c:tx>
      <c:layout>
        <c:manualLayout>
          <c:xMode val="edge"/>
          <c:yMode val="edge"/>
          <c:x val="0.31529400000000002"/>
          <c:y val="0"/>
          <c:w val="0.36941099999999999"/>
          <c:h val="0.11584899999999999"/>
        </c:manualLayout>
      </c:layout>
      <c:overlay val="1"/>
      <c:spPr>
        <a:noFill/>
        <a:effectLst/>
      </c:spPr>
    </c:title>
    <c:autoTitleDeleted val="0"/>
    <c:plotArea>
      <c:layout>
        <c:manualLayout>
          <c:layoutTarget val="inner"/>
          <c:xMode val="edge"/>
          <c:yMode val="edge"/>
          <c:x val="8.5299100000000003E-2"/>
          <c:y val="0.11584899999999999"/>
          <c:w val="0.90397499999999997"/>
          <c:h val="0.7416300000000000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Cupa</c:v>
                </c:pt>
              </c:strCache>
            </c:strRef>
          </c:tx>
          <c:spPr>
            <a:ln w="63500" cap="flat">
              <a:solidFill>
                <a:srgbClr val="0096FF"/>
              </a:solidFill>
              <a:prstDash val="solid"/>
              <a:round/>
            </a:ln>
            <a:effectLst/>
          </c:spPr>
          <c:marker>
            <c:symbol val="circle"/>
            <c:size val="13"/>
            <c:spPr>
              <a:solidFill>
                <a:srgbClr val="FFFFFF"/>
              </a:solidFill>
              <a:ln w="25400" cap="flat">
                <a:solidFill>
                  <a:srgbClr val="0096FF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04-06</c:v>
                </c:pt>
                <c:pt idx="1">
                  <c:v>04-13</c:v>
                </c:pt>
                <c:pt idx="2">
                  <c:v>04-20</c:v>
                </c:pt>
                <c:pt idx="3">
                  <c:v>04-27</c:v>
                </c:pt>
                <c:pt idx="4">
                  <c:v>05-04</c:v>
                </c:pt>
                <c:pt idx="5">
                  <c:v>05-11</c:v>
                </c:pt>
                <c:pt idx="6">
                  <c:v>05-18</c:v>
                </c:pt>
                <c:pt idx="7">
                  <c:v>05-25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2.5</c:v>
                </c:pt>
                <c:pt idx="1">
                  <c:v>2.6</c:v>
                </c:pt>
                <c:pt idx="2">
                  <c:v>2.7</c:v>
                </c:pt>
                <c:pt idx="3">
                  <c:v>2.6</c:v>
                </c:pt>
                <c:pt idx="4">
                  <c:v>2.6</c:v>
                </c:pt>
                <c:pt idx="5">
                  <c:v>2.6</c:v>
                </c:pt>
                <c:pt idx="6">
                  <c:v>2.7</c:v>
                </c:pt>
                <c:pt idx="7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752-CA43-9409-599762802A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Dizo</c:v>
                </c:pt>
              </c:strCache>
            </c:strRef>
          </c:tx>
          <c:spPr>
            <a:ln w="63500" cap="flat">
              <a:solidFill>
                <a:srgbClr val="0433FF"/>
              </a:solidFill>
              <a:prstDash val="solid"/>
              <a:round/>
            </a:ln>
            <a:effectLst/>
          </c:spPr>
          <c:marker>
            <c:symbol val="circle"/>
            <c:size val="13"/>
            <c:spPr>
              <a:solidFill>
                <a:srgbClr val="FFFFFF"/>
              </a:solidFill>
              <a:ln w="25400" cap="flat">
                <a:solidFill>
                  <a:srgbClr val="0433FF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04-06</c:v>
                </c:pt>
                <c:pt idx="1">
                  <c:v>04-13</c:v>
                </c:pt>
                <c:pt idx="2">
                  <c:v>04-20</c:v>
                </c:pt>
                <c:pt idx="3">
                  <c:v>04-27</c:v>
                </c:pt>
                <c:pt idx="4">
                  <c:v>05-04</c:v>
                </c:pt>
                <c:pt idx="5">
                  <c:v>05-11</c:v>
                </c:pt>
                <c:pt idx="6">
                  <c:v>05-18</c:v>
                </c:pt>
                <c:pt idx="7">
                  <c:v>05-25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2.9</c:v>
                </c:pt>
                <c:pt idx="1">
                  <c:v>3.1</c:v>
                </c:pt>
                <c:pt idx="2">
                  <c:v>3.1</c:v>
                </c:pt>
                <c:pt idx="3">
                  <c:v>3.1</c:v>
                </c:pt>
                <c:pt idx="4">
                  <c:v>3.1</c:v>
                </c:pt>
                <c:pt idx="5">
                  <c:v>3.1</c:v>
                </c:pt>
                <c:pt idx="6">
                  <c:v>3.1</c:v>
                </c:pt>
                <c:pt idx="7">
                  <c:v>3.1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752-CA43-9409-599762802AE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Nexa</c:v>
                </c:pt>
              </c:strCache>
            </c:strRef>
          </c:tx>
          <c:spPr>
            <a:ln w="63500" cap="flat">
              <a:solidFill>
                <a:srgbClr val="FF2600"/>
              </a:solidFill>
              <a:prstDash val="solid"/>
              <a:round/>
            </a:ln>
            <a:effectLst/>
          </c:spPr>
          <c:marker>
            <c:symbol val="circle"/>
            <c:size val="13"/>
            <c:spPr>
              <a:solidFill>
                <a:srgbClr val="FFFFFF"/>
              </a:solidFill>
              <a:ln w="25400" cap="flat">
                <a:solidFill>
                  <a:srgbClr val="FF260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04-06</c:v>
                </c:pt>
                <c:pt idx="1">
                  <c:v>04-13</c:v>
                </c:pt>
                <c:pt idx="2">
                  <c:v>04-20</c:v>
                </c:pt>
                <c:pt idx="3">
                  <c:v>04-27</c:v>
                </c:pt>
                <c:pt idx="4">
                  <c:v>05-04</c:v>
                </c:pt>
                <c:pt idx="5">
                  <c:v>05-11</c:v>
                </c:pt>
                <c:pt idx="6">
                  <c:v>05-18</c:v>
                </c:pt>
                <c:pt idx="7">
                  <c:v>05-25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4</c:v>
                </c:pt>
                <c:pt idx="1">
                  <c:v>3.8</c:v>
                </c:pt>
                <c:pt idx="2">
                  <c:v>4</c:v>
                </c:pt>
                <c:pt idx="3">
                  <c:v>4</c:v>
                </c:pt>
                <c:pt idx="4">
                  <c:v>3.9</c:v>
                </c:pt>
                <c:pt idx="5">
                  <c:v>4</c:v>
                </c:pt>
                <c:pt idx="6">
                  <c:v>4</c:v>
                </c:pt>
                <c:pt idx="7">
                  <c:v>3.9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752-CA43-9409-599762802AE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Tiva</c:v>
                </c:pt>
              </c:strCache>
            </c:strRef>
          </c:tx>
          <c:spPr>
            <a:ln w="63500" cap="flat">
              <a:solidFill>
                <a:srgbClr val="008F00"/>
              </a:solidFill>
              <a:prstDash val="solid"/>
              <a:round/>
            </a:ln>
            <a:effectLst/>
          </c:spPr>
          <c:marker>
            <c:symbol val="circle"/>
            <c:size val="13"/>
            <c:spPr>
              <a:solidFill>
                <a:srgbClr val="FFFFFF"/>
              </a:solidFill>
              <a:ln w="25400" cap="flat">
                <a:solidFill>
                  <a:srgbClr val="008F0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04-06</c:v>
                </c:pt>
                <c:pt idx="1">
                  <c:v>04-13</c:v>
                </c:pt>
                <c:pt idx="2">
                  <c:v>04-20</c:v>
                </c:pt>
                <c:pt idx="3">
                  <c:v>04-27</c:v>
                </c:pt>
                <c:pt idx="4">
                  <c:v>05-04</c:v>
                </c:pt>
                <c:pt idx="5">
                  <c:v>05-11</c:v>
                </c:pt>
                <c:pt idx="6">
                  <c:v>05-18</c:v>
                </c:pt>
                <c:pt idx="7">
                  <c:v>05-25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3.7</c:v>
                </c:pt>
                <c:pt idx="1">
                  <c:v>3.8</c:v>
                </c:pt>
                <c:pt idx="2">
                  <c:v>3.6</c:v>
                </c:pt>
                <c:pt idx="3">
                  <c:v>3.5</c:v>
                </c:pt>
                <c:pt idx="4">
                  <c:v>3.6</c:v>
                </c:pt>
                <c:pt idx="5">
                  <c:v>3.6</c:v>
                </c:pt>
                <c:pt idx="6">
                  <c:v>3.7</c:v>
                </c:pt>
                <c:pt idx="7">
                  <c:v>3.6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752-CA43-9409-599762802AE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Wacha</c:v>
                </c:pt>
              </c:strCache>
            </c:strRef>
          </c:tx>
          <c:spPr>
            <a:ln w="63500" cap="flat">
              <a:solidFill>
                <a:srgbClr val="919191"/>
              </a:solidFill>
              <a:prstDash val="solid"/>
              <a:round/>
            </a:ln>
            <a:effectLst/>
          </c:spPr>
          <c:marker>
            <c:symbol val="circle"/>
            <c:size val="13"/>
            <c:spPr>
              <a:solidFill>
                <a:srgbClr val="FFFFFF"/>
              </a:solidFill>
              <a:ln w="25400" cap="flat">
                <a:solidFill>
                  <a:srgbClr val="929292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04-06</c:v>
                </c:pt>
                <c:pt idx="1">
                  <c:v>04-13</c:v>
                </c:pt>
                <c:pt idx="2">
                  <c:v>04-20</c:v>
                </c:pt>
                <c:pt idx="3">
                  <c:v>04-27</c:v>
                </c:pt>
                <c:pt idx="4">
                  <c:v>05-04</c:v>
                </c:pt>
                <c:pt idx="5">
                  <c:v>05-11</c:v>
                </c:pt>
                <c:pt idx="6">
                  <c:v>05-18</c:v>
                </c:pt>
                <c:pt idx="7">
                  <c:v>05-25</c:v>
                </c:pt>
              </c:strCache>
            </c:strRef>
          </c:cat>
          <c:val>
            <c:numRef>
              <c:f>Sheet1!$F$2:$F$9</c:f>
              <c:numCache>
                <c:formatCode>General</c:formatCode>
                <c:ptCount val="8"/>
                <c:pt idx="0">
                  <c:v>2.8</c:v>
                </c:pt>
                <c:pt idx="1">
                  <c:v>2.8</c:v>
                </c:pt>
                <c:pt idx="2">
                  <c:v>2.8</c:v>
                </c:pt>
                <c:pt idx="3">
                  <c:v>2.7</c:v>
                </c:pt>
                <c:pt idx="4">
                  <c:v>2.8</c:v>
                </c:pt>
                <c:pt idx="5">
                  <c:v>2.8</c:v>
                </c:pt>
                <c:pt idx="6">
                  <c:v>2.9</c:v>
                </c:pt>
                <c:pt idx="7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752-CA43-9409-599762802AE8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Wavo</c:v>
                </c:pt>
              </c:strCache>
            </c:strRef>
          </c:tx>
          <c:spPr>
            <a:ln w="63500" cap="flat">
              <a:solidFill>
                <a:srgbClr val="9437FF"/>
              </a:solidFill>
              <a:prstDash val="solid"/>
              <a:round/>
            </a:ln>
            <a:effectLst/>
          </c:spPr>
          <c:marker>
            <c:symbol val="circle"/>
            <c:size val="13"/>
            <c:spPr>
              <a:solidFill>
                <a:srgbClr val="FFFFFF"/>
              </a:solidFill>
              <a:ln w="25400" cap="flat">
                <a:solidFill>
                  <a:srgbClr val="9437FF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04-06</c:v>
                </c:pt>
                <c:pt idx="1">
                  <c:v>04-13</c:v>
                </c:pt>
                <c:pt idx="2">
                  <c:v>04-20</c:v>
                </c:pt>
                <c:pt idx="3">
                  <c:v>04-27</c:v>
                </c:pt>
                <c:pt idx="4">
                  <c:v>05-04</c:v>
                </c:pt>
                <c:pt idx="5">
                  <c:v>05-11</c:v>
                </c:pt>
                <c:pt idx="6">
                  <c:v>05-18</c:v>
                </c:pt>
                <c:pt idx="7">
                  <c:v>05-25</c:v>
                </c:pt>
              </c:strCache>
            </c:strRef>
          </c:cat>
          <c:val>
            <c:numRef>
              <c:f>Sheet1!$G$2:$G$9</c:f>
              <c:numCache>
                <c:formatCode>General</c:formatCode>
                <c:ptCount val="8"/>
                <c:pt idx="0">
                  <c:v>3.3</c:v>
                </c:pt>
                <c:pt idx="1">
                  <c:v>3.3</c:v>
                </c:pt>
                <c:pt idx="2">
                  <c:v>3.5</c:v>
                </c:pt>
                <c:pt idx="3">
                  <c:v>3.4</c:v>
                </c:pt>
                <c:pt idx="4">
                  <c:v>3.3</c:v>
                </c:pt>
                <c:pt idx="5">
                  <c:v>3.4</c:v>
                </c:pt>
                <c:pt idx="6">
                  <c:v>3.3</c:v>
                </c:pt>
                <c:pt idx="7">
                  <c:v>3.4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D752-CA43-9409-599762802A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noFill/>
            <a:miter lim="400000"/>
          </a:ln>
        </c:spPr>
        <c:txPr>
          <a:bodyPr rot="-2700000"/>
          <a:lstStyle/>
          <a:p>
            <a:pPr>
              <a:defRPr sz="2400" b="0" i="0" u="none" strike="noStrike">
                <a:solidFill>
                  <a:srgbClr val="000000"/>
                </a:solidFill>
                <a:latin typeface="Calibri"/>
              </a:defRPr>
            </a:pPr>
            <a:endParaRPr lang="ko-KR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4.25"/>
          <c:min val="2.25"/>
        </c:scaling>
        <c:delete val="0"/>
        <c:axPos val="l"/>
        <c:majorGridlines>
          <c:spPr>
            <a:ln w="12700" cap="flat">
              <a:solidFill>
                <a:srgbClr val="C0C0C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2600" b="0" i="0" u="none" strike="noStrike">
                <a:solidFill>
                  <a:srgbClr val="000000"/>
                </a:solidFill>
                <a:latin typeface="Calibri"/>
              </a:defRPr>
            </a:pPr>
            <a:endParaRPr lang="ko-KR"/>
          </a:p>
        </c:txPr>
        <c:crossAx val="2094734552"/>
        <c:crosses val="autoZero"/>
        <c:crossBetween val="midCat"/>
        <c:majorUnit val="0.25"/>
        <c:minorUnit val="0.125"/>
      </c:valAx>
      <c:spPr>
        <a:solidFill>
          <a:srgbClr val="FFFFFF"/>
        </a:solidFill>
        <a:ln w="12700" cap="flat">
          <a:noFill/>
          <a:miter lim="400000"/>
        </a:ln>
        <a:effectLst/>
      </c:spPr>
    </c:plotArea>
    <c:legend>
      <c:legendPos val="r"/>
      <c:layout>
        <c:manualLayout>
          <c:xMode val="edge"/>
          <c:yMode val="edge"/>
          <c:x val="0.35650199999999999"/>
          <c:y val="0.81856300000000004"/>
          <c:w val="0.63256599999999996"/>
          <c:h val="6.2969999999999998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2000" b="0" i="0" u="none" strike="noStrike">
              <a:solidFill>
                <a:srgbClr val="000000"/>
              </a:solidFill>
              <a:latin typeface="Calibri"/>
            </a:defRPr>
          </a:pPr>
          <a:endParaRPr lang="ko-KR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0"/>
  <c:style val="2"/>
  <c:chart>
    <c:title>
      <c:tx>
        <c:rich>
          <a:bodyPr rot="0"/>
          <a:lstStyle/>
          <a:p>
            <a:pPr>
              <a:defRPr sz="36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lang="en" sz="3600" b="0" i="0" u="none" strike="noStrike">
                <a:solidFill>
                  <a:srgbClr val="000000"/>
                </a:solidFill>
                <a:latin typeface="Calibri"/>
              </a:rPr>
              <a:t>New Installs</a:t>
            </a:r>
          </a:p>
        </c:rich>
      </c:tx>
      <c:layout>
        <c:manualLayout>
          <c:xMode val="edge"/>
          <c:yMode val="edge"/>
          <c:x val="0.389297"/>
          <c:y val="0"/>
          <c:w val="0.22140599999999999"/>
          <c:h val="0.11584899999999999"/>
        </c:manualLayout>
      </c:layout>
      <c:overlay val="1"/>
      <c:spPr>
        <a:noFill/>
        <a:effectLst/>
      </c:spPr>
    </c:title>
    <c:autoTitleDeleted val="0"/>
    <c:plotArea>
      <c:layout>
        <c:manualLayout>
          <c:layoutTarget val="inner"/>
          <c:xMode val="edge"/>
          <c:yMode val="edge"/>
          <c:x val="9.3244900000000006E-2"/>
          <c:y val="0.11584899999999999"/>
          <c:w val="0.89612199999999997"/>
          <c:h val="0.7416300000000000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Cupa</c:v>
                </c:pt>
              </c:strCache>
            </c:strRef>
          </c:tx>
          <c:spPr>
            <a:ln w="63500" cap="flat">
              <a:solidFill>
                <a:srgbClr val="0096FF"/>
              </a:solidFill>
              <a:prstDash val="solid"/>
              <a:round/>
            </a:ln>
            <a:effectLst/>
          </c:spPr>
          <c:marker>
            <c:symbol val="circle"/>
            <c:size val="13"/>
            <c:spPr>
              <a:solidFill>
                <a:srgbClr val="FFFFFF"/>
              </a:solidFill>
              <a:ln w="25400" cap="flat">
                <a:solidFill>
                  <a:srgbClr val="0096FF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04-06</c:v>
                </c:pt>
                <c:pt idx="1">
                  <c:v>04-13</c:v>
                </c:pt>
                <c:pt idx="2">
                  <c:v>04-20</c:v>
                </c:pt>
                <c:pt idx="3">
                  <c:v>04-27</c:v>
                </c:pt>
                <c:pt idx="4">
                  <c:v>05-04</c:v>
                </c:pt>
                <c:pt idx="5">
                  <c:v>05-11</c:v>
                </c:pt>
                <c:pt idx="6">
                  <c:v>05-18</c:v>
                </c:pt>
                <c:pt idx="7">
                  <c:v>05-25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99498</c:v>
                </c:pt>
                <c:pt idx="1">
                  <c:v>103495</c:v>
                </c:pt>
                <c:pt idx="2">
                  <c:v>106792</c:v>
                </c:pt>
                <c:pt idx="3">
                  <c:v>105526</c:v>
                </c:pt>
                <c:pt idx="4">
                  <c:v>107797</c:v>
                </c:pt>
                <c:pt idx="5">
                  <c:v>95686</c:v>
                </c:pt>
                <c:pt idx="6">
                  <c:v>96066</c:v>
                </c:pt>
                <c:pt idx="7">
                  <c:v>213890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511-C245-AEBA-4F6B1F2BF45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Dizo</c:v>
                </c:pt>
              </c:strCache>
            </c:strRef>
          </c:tx>
          <c:spPr>
            <a:ln w="63500" cap="flat">
              <a:solidFill>
                <a:srgbClr val="0433FF"/>
              </a:solidFill>
              <a:prstDash val="solid"/>
              <a:round/>
            </a:ln>
            <a:effectLst/>
          </c:spPr>
          <c:marker>
            <c:symbol val="circle"/>
            <c:size val="13"/>
            <c:spPr>
              <a:solidFill>
                <a:srgbClr val="FFFFFF"/>
              </a:solidFill>
              <a:ln w="25400" cap="flat">
                <a:solidFill>
                  <a:srgbClr val="0433FF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04-06</c:v>
                </c:pt>
                <c:pt idx="1">
                  <c:v>04-13</c:v>
                </c:pt>
                <c:pt idx="2">
                  <c:v>04-20</c:v>
                </c:pt>
                <c:pt idx="3">
                  <c:v>04-27</c:v>
                </c:pt>
                <c:pt idx="4">
                  <c:v>05-04</c:v>
                </c:pt>
                <c:pt idx="5">
                  <c:v>05-11</c:v>
                </c:pt>
                <c:pt idx="6">
                  <c:v>05-18</c:v>
                </c:pt>
                <c:pt idx="7">
                  <c:v>05-25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36389</c:v>
                </c:pt>
                <c:pt idx="1">
                  <c:v>34066</c:v>
                </c:pt>
                <c:pt idx="2">
                  <c:v>35221</c:v>
                </c:pt>
                <c:pt idx="3">
                  <c:v>39122</c:v>
                </c:pt>
                <c:pt idx="4">
                  <c:v>40130</c:v>
                </c:pt>
                <c:pt idx="5">
                  <c:v>38655</c:v>
                </c:pt>
                <c:pt idx="6">
                  <c:v>37655</c:v>
                </c:pt>
                <c:pt idx="7">
                  <c:v>35686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511-C245-AEBA-4F6B1F2BF45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Nexa</c:v>
                </c:pt>
              </c:strCache>
            </c:strRef>
          </c:tx>
          <c:spPr>
            <a:ln w="63500" cap="flat">
              <a:solidFill>
                <a:srgbClr val="FF2600"/>
              </a:solidFill>
              <a:prstDash val="solid"/>
              <a:round/>
            </a:ln>
            <a:effectLst/>
          </c:spPr>
          <c:marker>
            <c:symbol val="circle"/>
            <c:size val="13"/>
            <c:spPr>
              <a:solidFill>
                <a:srgbClr val="FFFFFF"/>
              </a:solidFill>
              <a:ln w="25400" cap="flat">
                <a:solidFill>
                  <a:srgbClr val="FF260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04-06</c:v>
                </c:pt>
                <c:pt idx="1">
                  <c:v>04-13</c:v>
                </c:pt>
                <c:pt idx="2">
                  <c:v>04-20</c:v>
                </c:pt>
                <c:pt idx="3">
                  <c:v>04-27</c:v>
                </c:pt>
                <c:pt idx="4">
                  <c:v>05-04</c:v>
                </c:pt>
                <c:pt idx="5">
                  <c:v>05-11</c:v>
                </c:pt>
                <c:pt idx="6">
                  <c:v>05-18</c:v>
                </c:pt>
                <c:pt idx="7">
                  <c:v>05-25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96667</c:v>
                </c:pt>
                <c:pt idx="1">
                  <c:v>100719</c:v>
                </c:pt>
                <c:pt idx="2">
                  <c:v>112820</c:v>
                </c:pt>
                <c:pt idx="3">
                  <c:v>105381</c:v>
                </c:pt>
                <c:pt idx="4">
                  <c:v>111964</c:v>
                </c:pt>
                <c:pt idx="5">
                  <c:v>113958</c:v>
                </c:pt>
                <c:pt idx="6">
                  <c:v>104952</c:v>
                </c:pt>
                <c:pt idx="7">
                  <c:v>107572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511-C245-AEBA-4F6B1F2BF45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Tiva</c:v>
                </c:pt>
              </c:strCache>
            </c:strRef>
          </c:tx>
          <c:spPr>
            <a:ln w="63500" cap="flat">
              <a:solidFill>
                <a:srgbClr val="008F00"/>
              </a:solidFill>
              <a:prstDash val="solid"/>
              <a:round/>
            </a:ln>
            <a:effectLst/>
          </c:spPr>
          <c:marker>
            <c:symbol val="circle"/>
            <c:size val="13"/>
            <c:spPr>
              <a:solidFill>
                <a:srgbClr val="FFFFFF"/>
              </a:solidFill>
              <a:ln w="25400" cap="flat">
                <a:solidFill>
                  <a:srgbClr val="008F00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04-06</c:v>
                </c:pt>
                <c:pt idx="1">
                  <c:v>04-13</c:v>
                </c:pt>
                <c:pt idx="2">
                  <c:v>04-20</c:v>
                </c:pt>
                <c:pt idx="3">
                  <c:v>04-27</c:v>
                </c:pt>
                <c:pt idx="4">
                  <c:v>05-04</c:v>
                </c:pt>
                <c:pt idx="5">
                  <c:v>05-11</c:v>
                </c:pt>
                <c:pt idx="6">
                  <c:v>05-18</c:v>
                </c:pt>
                <c:pt idx="7">
                  <c:v>05-25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87608</c:v>
                </c:pt>
                <c:pt idx="1">
                  <c:v>79431</c:v>
                </c:pt>
                <c:pt idx="2">
                  <c:v>81210</c:v>
                </c:pt>
                <c:pt idx="3">
                  <c:v>77186</c:v>
                </c:pt>
                <c:pt idx="4">
                  <c:v>91566</c:v>
                </c:pt>
                <c:pt idx="5">
                  <c:v>100529</c:v>
                </c:pt>
                <c:pt idx="6">
                  <c:v>82871</c:v>
                </c:pt>
                <c:pt idx="7">
                  <c:v>105902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511-C245-AEBA-4F6B1F2BF45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Wacha</c:v>
                </c:pt>
              </c:strCache>
            </c:strRef>
          </c:tx>
          <c:spPr>
            <a:ln w="63500" cap="flat">
              <a:solidFill>
                <a:srgbClr val="919191"/>
              </a:solidFill>
              <a:prstDash val="solid"/>
              <a:round/>
            </a:ln>
            <a:effectLst/>
          </c:spPr>
          <c:marker>
            <c:symbol val="circle"/>
            <c:size val="13"/>
            <c:spPr>
              <a:solidFill>
                <a:srgbClr val="FFFFFF"/>
              </a:solidFill>
              <a:ln w="25400" cap="flat">
                <a:solidFill>
                  <a:srgbClr val="929292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04-06</c:v>
                </c:pt>
                <c:pt idx="1">
                  <c:v>04-13</c:v>
                </c:pt>
                <c:pt idx="2">
                  <c:v>04-20</c:v>
                </c:pt>
                <c:pt idx="3">
                  <c:v>04-27</c:v>
                </c:pt>
                <c:pt idx="4">
                  <c:v>05-04</c:v>
                </c:pt>
                <c:pt idx="5">
                  <c:v>05-11</c:v>
                </c:pt>
                <c:pt idx="6">
                  <c:v>05-18</c:v>
                </c:pt>
                <c:pt idx="7">
                  <c:v>05-25</c:v>
                </c:pt>
              </c:strCache>
            </c:strRef>
          </c:cat>
          <c:val>
            <c:numRef>
              <c:f>Sheet1!$F$2:$F$9</c:f>
              <c:numCache>
                <c:formatCode>General</c:formatCode>
                <c:ptCount val="8"/>
                <c:pt idx="0">
                  <c:v>2757</c:v>
                </c:pt>
                <c:pt idx="1">
                  <c:v>2555</c:v>
                </c:pt>
                <c:pt idx="2">
                  <c:v>2384</c:v>
                </c:pt>
                <c:pt idx="3">
                  <c:v>2397</c:v>
                </c:pt>
                <c:pt idx="4">
                  <c:v>2764</c:v>
                </c:pt>
                <c:pt idx="5">
                  <c:v>2814</c:v>
                </c:pt>
                <c:pt idx="6">
                  <c:v>2558</c:v>
                </c:pt>
                <c:pt idx="7">
                  <c:v>2723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511-C245-AEBA-4F6B1F2BF45F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Wavo</c:v>
                </c:pt>
              </c:strCache>
            </c:strRef>
          </c:tx>
          <c:spPr>
            <a:ln w="63500" cap="flat">
              <a:solidFill>
                <a:srgbClr val="9437FF"/>
              </a:solidFill>
              <a:prstDash val="solid"/>
              <a:round/>
            </a:ln>
            <a:effectLst/>
          </c:spPr>
          <c:marker>
            <c:symbol val="circle"/>
            <c:size val="13"/>
            <c:spPr>
              <a:solidFill>
                <a:srgbClr val="FFFFFF"/>
              </a:solidFill>
              <a:ln w="25400" cap="flat">
                <a:solidFill>
                  <a:srgbClr val="9437FF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04-06</c:v>
                </c:pt>
                <c:pt idx="1">
                  <c:v>04-13</c:v>
                </c:pt>
                <c:pt idx="2">
                  <c:v>04-20</c:v>
                </c:pt>
                <c:pt idx="3">
                  <c:v>04-27</c:v>
                </c:pt>
                <c:pt idx="4">
                  <c:v>05-04</c:v>
                </c:pt>
                <c:pt idx="5">
                  <c:v>05-11</c:v>
                </c:pt>
                <c:pt idx="6">
                  <c:v>05-18</c:v>
                </c:pt>
                <c:pt idx="7">
                  <c:v>05-25</c:v>
                </c:pt>
              </c:strCache>
            </c:strRef>
          </c:cat>
          <c:val>
            <c:numRef>
              <c:f>Sheet1!$G$2:$G$9</c:f>
              <c:numCache>
                <c:formatCode>General</c:formatCode>
                <c:ptCount val="8"/>
                <c:pt idx="0">
                  <c:v>25020</c:v>
                </c:pt>
                <c:pt idx="1">
                  <c:v>25928</c:v>
                </c:pt>
                <c:pt idx="2">
                  <c:v>23796</c:v>
                </c:pt>
                <c:pt idx="3">
                  <c:v>27218</c:v>
                </c:pt>
                <c:pt idx="4">
                  <c:v>24682</c:v>
                </c:pt>
                <c:pt idx="5">
                  <c:v>25756</c:v>
                </c:pt>
                <c:pt idx="6">
                  <c:v>26814</c:v>
                </c:pt>
                <c:pt idx="7">
                  <c:v>24893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D511-C245-AEBA-4F6B1F2BF4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noFill/>
            <a:miter lim="400000"/>
          </a:ln>
        </c:spPr>
        <c:txPr>
          <a:bodyPr rot="-2700000"/>
          <a:lstStyle/>
          <a:p>
            <a:pPr>
              <a:defRPr sz="2400" b="0" i="0" u="none" strike="noStrike">
                <a:solidFill>
                  <a:srgbClr val="000000"/>
                </a:solidFill>
                <a:latin typeface="Calibri"/>
              </a:defRPr>
            </a:pPr>
            <a:endParaRPr lang="ko-KR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250000"/>
        </c:scaling>
        <c:delete val="0"/>
        <c:axPos val="l"/>
        <c:majorGridlines>
          <c:spPr>
            <a:ln w="12700" cap="flat">
              <a:solidFill>
                <a:srgbClr val="C0C0C0"/>
              </a:solidFill>
              <a:prstDash val="solid"/>
              <a:round/>
            </a:ln>
          </c:spPr>
        </c:majorGridlines>
        <c:numFmt formatCode="#,###,&quot;K&quot;" sourceLinked="0"/>
        <c:majorTickMark val="out"/>
        <c:minorTickMark val="none"/>
        <c:tickLblPos val="nextTo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2600" b="0" i="0" u="none" strike="noStrike">
                <a:solidFill>
                  <a:srgbClr val="000000"/>
                </a:solidFill>
                <a:latin typeface="Calibri"/>
              </a:defRPr>
            </a:pPr>
            <a:endParaRPr lang="ko-KR"/>
          </a:p>
        </c:txPr>
        <c:crossAx val="2094734552"/>
        <c:crosses val="autoZero"/>
        <c:crossBetween val="midCat"/>
        <c:majorUnit val="50000"/>
        <c:minorUnit val="25000"/>
      </c:valAx>
      <c:spPr>
        <a:solidFill>
          <a:srgbClr val="FFFFFF"/>
        </a:solidFill>
        <a:ln w="12700" cap="flat">
          <a:noFill/>
          <a:miter lim="400000"/>
        </a:ln>
        <a:effectLst/>
      </c:spPr>
    </c:plotArea>
    <c:legend>
      <c:legendPos val="r"/>
      <c:layout>
        <c:manualLayout>
          <c:xMode val="edge"/>
          <c:yMode val="edge"/>
          <c:x val="9.0717699999999998E-2"/>
          <c:y val="0.14280699999999999"/>
          <c:w val="0.345084"/>
          <c:h val="0.10094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2000" b="0" i="0" u="none" strike="noStrike">
              <a:solidFill>
                <a:srgbClr val="000000"/>
              </a:solidFill>
              <a:latin typeface="Calibri"/>
            </a:defRPr>
          </a:pPr>
          <a:endParaRPr lang="ko-KR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 latinLnBrk="0">
      <a:defRPr sz="2400">
        <a:latin typeface="+mj-lt"/>
        <a:ea typeface="+mj-ea"/>
        <a:cs typeface="+mj-cs"/>
        <a:sym typeface="Helvetica Neue"/>
      </a:defRPr>
    </a:lvl1pPr>
    <a:lvl2pPr indent="228600" defTabSz="1828800" latinLnBrk="0">
      <a:defRPr sz="2400">
        <a:latin typeface="+mj-lt"/>
        <a:ea typeface="+mj-ea"/>
        <a:cs typeface="+mj-cs"/>
        <a:sym typeface="Helvetica Neue"/>
      </a:defRPr>
    </a:lvl2pPr>
    <a:lvl3pPr indent="457200" defTabSz="1828800" latinLnBrk="0">
      <a:defRPr sz="2400">
        <a:latin typeface="+mj-lt"/>
        <a:ea typeface="+mj-ea"/>
        <a:cs typeface="+mj-cs"/>
        <a:sym typeface="Helvetica Neue"/>
      </a:defRPr>
    </a:lvl3pPr>
    <a:lvl4pPr indent="685800" defTabSz="1828800" latinLnBrk="0">
      <a:defRPr sz="2400">
        <a:latin typeface="+mj-lt"/>
        <a:ea typeface="+mj-ea"/>
        <a:cs typeface="+mj-cs"/>
        <a:sym typeface="Helvetica Neue"/>
      </a:defRPr>
    </a:lvl4pPr>
    <a:lvl5pPr indent="914400" defTabSz="1828800" latinLnBrk="0">
      <a:defRPr sz="2400">
        <a:latin typeface="+mj-lt"/>
        <a:ea typeface="+mj-ea"/>
        <a:cs typeface="+mj-cs"/>
        <a:sym typeface="Helvetica Neue"/>
      </a:defRPr>
    </a:lvl5pPr>
    <a:lvl6pPr indent="1143000" defTabSz="1828800" latinLnBrk="0">
      <a:defRPr sz="2400">
        <a:latin typeface="+mj-lt"/>
        <a:ea typeface="+mj-ea"/>
        <a:cs typeface="+mj-cs"/>
        <a:sym typeface="Helvetica Neue"/>
      </a:defRPr>
    </a:lvl6pPr>
    <a:lvl7pPr indent="1371600" defTabSz="1828800" latinLnBrk="0">
      <a:defRPr sz="2400">
        <a:latin typeface="+mj-lt"/>
        <a:ea typeface="+mj-ea"/>
        <a:cs typeface="+mj-cs"/>
        <a:sym typeface="Helvetica Neue"/>
      </a:defRPr>
    </a:lvl7pPr>
    <a:lvl8pPr indent="1600200" defTabSz="1828800" latinLnBrk="0">
      <a:defRPr sz="2400">
        <a:latin typeface="+mj-lt"/>
        <a:ea typeface="+mj-ea"/>
        <a:cs typeface="+mj-cs"/>
        <a:sym typeface="Helvetica Neue"/>
      </a:defRPr>
    </a:lvl8pPr>
    <a:lvl9pPr indent="1828800" defTabSz="1828800" latinLnBrk="0">
      <a:defRPr sz="24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7" name="Shape 4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defRPr sz="1200"/>
            </a:pPr>
            <a:r>
              <a:t>[Sources] Google Sheet ott_wau, data!A1:D979, latest populated week -06-15, previous week -06-08.</a:t>
            </a:r>
          </a:p>
          <a:p>
            <a:pPr defTabSz="914400">
              <a:defRPr sz="1200"/>
            </a:pPr>
            <a:r>
              <a:t>[Sources] Canva visual reference: DAHQvzqrTAQ, Blue and Purple Modern Business Report Presentation.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5" name="Shape 5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defRPr sz="1200"/>
            </a:pPr>
            <a:r>
              <a:t>[Sources] Google Sheet ott_wau, data!A1:D979, latest populated week -06-15, previous week -06-08.</a:t>
            </a:r>
          </a:p>
          <a:p>
            <a:pPr defTabSz="914400">
              <a:defRPr sz="1200"/>
            </a:pPr>
            <a:r>
              <a:t>[Sources] Canva visual reference: DAHQvzqrTAQ, Blue and Purple Modern Business Report Presentation.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7" name="Shape 6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defRPr sz="1200"/>
            </a:pPr>
            <a:r>
              <a:t>[Sources] Google Sheet ott_wau, data!A1:D979, latest populated week -06-15, previous week -06-08.</a:t>
            </a:r>
          </a:p>
          <a:p>
            <a:pPr defTabSz="914400">
              <a:defRPr sz="1200"/>
            </a:pPr>
            <a:r>
              <a:t>[Sources] Canva visual reference: DAHQvzqrTAQ, Blue and Purple Modern Business Report Presentation.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9" name="Shape 7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defRPr sz="1200"/>
            </a:pPr>
            <a:r>
              <a:t>[Sources] Google Sheet ott_wau, data!A1:D979, latest populated week -06-15, previous week -06-08.</a:t>
            </a:r>
          </a:p>
          <a:p>
            <a:pPr defTabSz="914400">
              <a:defRPr sz="1200"/>
            </a:pPr>
            <a:r>
              <a:t>[Sources] Canva visual reference: DAHQvzqrTAQ, Blue and Purple Modern Business Report Presentation.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23683126" y="13000436"/>
            <a:ext cx="612352" cy="551181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spAutoFit/>
          </a:bodyPr>
          <a:lstStyle>
            <a:lvl1pPr algn="r">
              <a:defRPr sz="24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제목 텍스트"/>
          <p:cNvSpPr txBox="1">
            <a:spLocks noGrp="1"/>
          </p:cNvSpPr>
          <p:nvPr>
            <p:ph type="title"/>
          </p:nvPr>
        </p:nvSpPr>
        <p:spPr>
          <a:xfrm>
            <a:off x="1828800" y="3689350"/>
            <a:ext cx="20726400" cy="408305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 anchor="ctr"/>
          <a:lstStyle/>
          <a:p>
            <a:r>
              <a:t>제목 텍스트</a:t>
            </a:r>
          </a:p>
        </p:txBody>
      </p:sp>
      <p:sp>
        <p:nvSpPr>
          <p:cNvPr id="4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3657600" y="7772400"/>
            <a:ext cx="17068800" cy="5943600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457200" marR="0" indent="-457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tabLst/>
        <a:defRPr sz="56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90600" marR="0" indent="-5334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tabLst/>
        <a:defRPr sz="56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554479" marR="0" indent="-640079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tabLst/>
        <a:defRPr sz="56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20828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tabLst/>
        <a:defRPr sz="56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5400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tabLst/>
        <a:defRPr sz="56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9972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tabLst/>
        <a:defRPr sz="56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4544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tabLst/>
        <a:defRPr sz="56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9116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tabLst/>
        <a:defRPr sz="56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3688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tabLst/>
        <a:defRPr sz="56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</a:t>
            </a:fld>
            <a:endParaRPr/>
          </a:p>
        </p:txBody>
      </p:sp>
      <p:sp>
        <p:nvSpPr>
          <p:cNvPr id="21" name="직사각형"/>
          <p:cNvSpPr/>
          <p:nvPr/>
        </p:nvSpPr>
        <p:spPr>
          <a:xfrm>
            <a:off x="0" y="0"/>
            <a:ext cx="24384000" cy="342900"/>
          </a:xfrm>
          <a:prstGeom prst="rect">
            <a:avLst/>
          </a:prstGeom>
          <a:solidFill>
            <a:srgbClr val="5B3FFF"/>
          </a:solidFill>
          <a:ln w="3175">
            <a:solidFill>
              <a:srgbClr val="5B3FF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" name="OTT WAU…"/>
          <p:cNvSpPr txBox="1"/>
          <p:nvPr/>
        </p:nvSpPr>
        <p:spPr>
          <a:xfrm>
            <a:off x="1463039" y="2756783"/>
            <a:ext cx="8640928" cy="2563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/>
          <a:p>
            <a:pPr>
              <a:defRPr sz="8400" b="1" i="1">
                <a:solidFill>
                  <a:srgbClr val="171B3A"/>
                </a:solidFill>
              </a:defRPr>
            </a:pPr>
            <a:r>
              <a:t>OTT WAU</a:t>
            </a:r>
          </a:p>
          <a:p>
            <a:pPr>
              <a:defRPr sz="8400" b="1" i="1">
                <a:solidFill>
                  <a:srgbClr val="171B3A"/>
                </a:solidFill>
              </a:defRPr>
            </a:pPr>
            <a:r>
              <a:t>Weekly Report</a:t>
            </a:r>
          </a:p>
        </p:txBody>
      </p:sp>
      <p:sp>
        <p:nvSpPr>
          <p:cNvPr id="23" name="Report week: 2026-05-25 ~ 2026-05-31"/>
          <p:cNvSpPr txBox="1"/>
          <p:nvPr/>
        </p:nvSpPr>
        <p:spPr>
          <a:xfrm>
            <a:off x="1539239" y="6096000"/>
            <a:ext cx="9063845" cy="581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>
              <a:defRPr sz="3000">
                <a:solidFill>
                  <a:srgbClr val="667085"/>
                </a:solidFill>
              </a:defRPr>
            </a:lvl1pPr>
          </a:lstStyle>
          <a:p>
            <a:r>
              <a:t>Report week: 2026-05-25 ~ 2026-05-31</a:t>
            </a:r>
          </a:p>
        </p:txBody>
      </p:sp>
      <p:sp>
        <p:nvSpPr>
          <p:cNvPr id="24" name="6개 OTT 합산 WAU  전주 대비 +2.55% 증가…"/>
          <p:cNvSpPr txBox="1"/>
          <p:nvPr/>
        </p:nvSpPr>
        <p:spPr>
          <a:xfrm>
            <a:off x="1496760" y="7732712"/>
            <a:ext cx="10832094" cy="2345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/>
          <a:p>
            <a:pPr marL="368299" indent="-368299">
              <a:lnSpc>
                <a:spcPct val="130000"/>
              </a:lnSpc>
              <a:buSzPct val="75000"/>
              <a:buChar char="•"/>
              <a:defRPr sz="3500">
                <a:solidFill>
                  <a:srgbClr val="171B3A"/>
                </a:solidFill>
              </a:defRPr>
            </a:pPr>
            <a:r>
              <a:t>6개 OTT 합산 WAU  전주 대비 +2.55% 증가 </a:t>
            </a:r>
          </a:p>
          <a:p>
            <a:pPr marL="368299" indent="-368299">
              <a:lnSpc>
                <a:spcPct val="130000"/>
              </a:lnSpc>
              <a:buSzPct val="75000"/>
              <a:buChar char="•"/>
              <a:defRPr sz="3500">
                <a:solidFill>
                  <a:srgbClr val="171B3A"/>
                </a:solidFill>
              </a:defRPr>
            </a:pPr>
            <a:r>
              <a:t>Nexa 1위 유지 (239주 연속, 데이터 수집 이후)</a:t>
            </a:r>
          </a:p>
          <a:p>
            <a:pPr marL="368299" indent="-368299">
              <a:lnSpc>
                <a:spcPct val="130000"/>
              </a:lnSpc>
              <a:buSzPct val="75000"/>
              <a:buChar char="•"/>
              <a:defRPr sz="3500">
                <a:solidFill>
                  <a:srgbClr val="171B3A"/>
                </a:solidFill>
              </a:defRPr>
            </a:pPr>
            <a:r>
              <a:t>Cupa WAU +12.7% 급상승 (독점경기 중계 영향)</a:t>
            </a:r>
          </a:p>
        </p:txBody>
      </p:sp>
      <p:sp>
        <p:nvSpPr>
          <p:cNvPr id="25" name="모서리가 둥근 직사각형"/>
          <p:cNvSpPr/>
          <p:nvPr/>
        </p:nvSpPr>
        <p:spPr>
          <a:xfrm>
            <a:off x="13410893" y="2763133"/>
            <a:ext cx="4686301" cy="2514601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ED9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직사각형"/>
          <p:cNvSpPr/>
          <p:nvPr/>
        </p:nvSpPr>
        <p:spPr>
          <a:xfrm>
            <a:off x="13410893" y="2763133"/>
            <a:ext cx="4686301" cy="152401"/>
          </a:xfrm>
          <a:prstGeom prst="rect">
            <a:avLst/>
          </a:prstGeom>
          <a:solidFill>
            <a:srgbClr val="5B3FFF"/>
          </a:solidFill>
          <a:ln w="3175">
            <a:solidFill>
              <a:srgbClr val="5B3FF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Total WAU"/>
          <p:cNvSpPr txBox="1"/>
          <p:nvPr/>
        </p:nvSpPr>
        <p:spPr>
          <a:xfrm>
            <a:off x="13635683" y="3086511"/>
            <a:ext cx="1955960" cy="483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>
              <a:defRPr sz="2400">
                <a:solidFill>
                  <a:srgbClr val="667085"/>
                </a:solidFill>
              </a:defRPr>
            </a:lvl1pPr>
          </a:lstStyle>
          <a:p>
            <a:r>
              <a:t>Total WAU</a:t>
            </a:r>
          </a:p>
        </p:txBody>
      </p:sp>
      <p:sp>
        <p:nvSpPr>
          <p:cNvPr id="28" name="21,626,548"/>
          <p:cNvSpPr txBox="1"/>
          <p:nvPr/>
        </p:nvSpPr>
        <p:spPr>
          <a:xfrm>
            <a:off x="13978583" y="3739812"/>
            <a:ext cx="3550922" cy="79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>
              <a:defRPr sz="4800">
                <a:solidFill>
                  <a:srgbClr val="171B3A"/>
                </a:solidFill>
              </a:defRPr>
            </a:lvl1pPr>
          </a:lstStyle>
          <a:p>
            <a:r>
              <a:t>21,626,548</a:t>
            </a:r>
          </a:p>
        </p:txBody>
      </p:sp>
      <p:sp>
        <p:nvSpPr>
          <p:cNvPr id="29" name="+538,853 WoW"/>
          <p:cNvSpPr txBox="1"/>
          <p:nvPr/>
        </p:nvSpPr>
        <p:spPr>
          <a:xfrm>
            <a:off x="13959533" y="4668133"/>
            <a:ext cx="2452602" cy="483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>
              <a:defRPr sz="2400">
                <a:solidFill>
                  <a:srgbClr val="667085"/>
                </a:solidFill>
              </a:defRPr>
            </a:lvl1pPr>
          </a:lstStyle>
          <a:p>
            <a:r>
              <a:t>+538,853 WoW</a:t>
            </a:r>
          </a:p>
        </p:txBody>
      </p:sp>
      <p:sp>
        <p:nvSpPr>
          <p:cNvPr id="30" name="모서리가 둥근 직사각형"/>
          <p:cNvSpPr/>
          <p:nvPr/>
        </p:nvSpPr>
        <p:spPr>
          <a:xfrm>
            <a:off x="18630593" y="2763133"/>
            <a:ext cx="4686301" cy="2514601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ED9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직사각형"/>
          <p:cNvSpPr/>
          <p:nvPr/>
        </p:nvSpPr>
        <p:spPr>
          <a:xfrm>
            <a:off x="18630593" y="2763133"/>
            <a:ext cx="4686301" cy="152401"/>
          </a:xfrm>
          <a:prstGeom prst="rect">
            <a:avLst/>
          </a:prstGeom>
          <a:solidFill>
            <a:srgbClr val="5FD6FF"/>
          </a:solidFill>
          <a:ln w="3175">
            <a:solidFill>
              <a:srgbClr val="5FD6F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WoW Growth"/>
          <p:cNvSpPr txBox="1"/>
          <p:nvPr/>
        </p:nvSpPr>
        <p:spPr>
          <a:xfrm>
            <a:off x="18881880" y="3086511"/>
            <a:ext cx="2148940" cy="483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>
              <a:defRPr sz="2400">
                <a:solidFill>
                  <a:srgbClr val="667085"/>
                </a:solidFill>
              </a:defRPr>
            </a:lvl1pPr>
          </a:lstStyle>
          <a:p>
            <a:r>
              <a:t>WoW Growth</a:t>
            </a:r>
          </a:p>
        </p:txBody>
      </p:sp>
      <p:sp>
        <p:nvSpPr>
          <p:cNvPr id="33" name="+2.55%"/>
          <p:cNvSpPr txBox="1"/>
          <p:nvPr/>
        </p:nvSpPr>
        <p:spPr>
          <a:xfrm>
            <a:off x="19179233" y="3631510"/>
            <a:ext cx="3550922" cy="797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>
              <a:defRPr sz="4800">
                <a:solidFill>
                  <a:srgbClr val="171B3A"/>
                </a:solidFill>
              </a:defRPr>
            </a:lvl1pPr>
          </a:lstStyle>
          <a:p>
            <a:r>
              <a:t>+2.55%</a:t>
            </a:r>
          </a:p>
        </p:txBody>
      </p:sp>
      <p:sp>
        <p:nvSpPr>
          <p:cNvPr id="34" name="26-05-18 대비"/>
          <p:cNvSpPr txBox="1"/>
          <p:nvPr/>
        </p:nvSpPr>
        <p:spPr>
          <a:xfrm>
            <a:off x="19198283" y="4541480"/>
            <a:ext cx="2560708" cy="551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>
              <a:defRPr sz="2400">
                <a:solidFill>
                  <a:srgbClr val="667085"/>
                </a:solidFill>
              </a:defRPr>
            </a:lvl1pPr>
          </a:lstStyle>
          <a:p>
            <a:r>
              <a:t>26-05-18 대비</a:t>
            </a:r>
          </a:p>
        </p:txBody>
      </p:sp>
      <p:sp>
        <p:nvSpPr>
          <p:cNvPr id="35" name="모서리가 둥근 직사각형"/>
          <p:cNvSpPr/>
          <p:nvPr/>
        </p:nvSpPr>
        <p:spPr>
          <a:xfrm>
            <a:off x="13410893" y="5887333"/>
            <a:ext cx="4686301" cy="2514601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ED9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" name="직사각형"/>
          <p:cNvSpPr/>
          <p:nvPr/>
        </p:nvSpPr>
        <p:spPr>
          <a:xfrm>
            <a:off x="13410893" y="5887333"/>
            <a:ext cx="4686301" cy="152401"/>
          </a:xfrm>
          <a:prstGeom prst="rect">
            <a:avLst/>
          </a:prstGeom>
          <a:solidFill>
            <a:srgbClr val="2247FF"/>
          </a:solidFill>
          <a:ln w="3175">
            <a:solidFill>
              <a:srgbClr val="2247F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7" name="Top Service"/>
          <p:cNvSpPr txBox="1"/>
          <p:nvPr/>
        </p:nvSpPr>
        <p:spPr>
          <a:xfrm>
            <a:off x="13635683" y="6249754"/>
            <a:ext cx="1955960" cy="483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>
              <a:defRPr sz="2400">
                <a:solidFill>
                  <a:srgbClr val="667085"/>
                </a:solidFill>
              </a:defRPr>
            </a:lvl1pPr>
          </a:lstStyle>
          <a:p>
            <a:r>
              <a:t>Top Service</a:t>
            </a:r>
          </a:p>
        </p:txBody>
      </p:sp>
      <p:sp>
        <p:nvSpPr>
          <p:cNvPr id="38" name="Nexa"/>
          <p:cNvSpPr txBox="1"/>
          <p:nvPr/>
        </p:nvSpPr>
        <p:spPr>
          <a:xfrm>
            <a:off x="13978583" y="6825270"/>
            <a:ext cx="1866853" cy="797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>
              <a:defRPr sz="4800">
                <a:solidFill>
                  <a:srgbClr val="171B3A"/>
                </a:solidFill>
              </a:defRPr>
            </a:lvl1pPr>
          </a:lstStyle>
          <a:p>
            <a:r>
              <a:t>Nexa</a:t>
            </a:r>
          </a:p>
        </p:txBody>
      </p:sp>
      <p:sp>
        <p:nvSpPr>
          <p:cNvPr id="39" name="8.29M WAU"/>
          <p:cNvSpPr txBox="1"/>
          <p:nvPr/>
        </p:nvSpPr>
        <p:spPr>
          <a:xfrm>
            <a:off x="13978583" y="7714545"/>
            <a:ext cx="2047721" cy="483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>
              <a:defRPr sz="2400">
                <a:solidFill>
                  <a:srgbClr val="667085"/>
                </a:solidFill>
              </a:defRPr>
            </a:lvl1pPr>
          </a:lstStyle>
          <a:p>
            <a:r>
              <a:t>8.29M WAU</a:t>
            </a:r>
          </a:p>
        </p:txBody>
      </p:sp>
      <p:sp>
        <p:nvSpPr>
          <p:cNvPr id="40" name="모서리가 둥근 직사각형"/>
          <p:cNvSpPr/>
          <p:nvPr/>
        </p:nvSpPr>
        <p:spPr>
          <a:xfrm>
            <a:off x="18630593" y="5887333"/>
            <a:ext cx="4686301" cy="2514601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ED9F5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1" name="직사각형"/>
          <p:cNvSpPr/>
          <p:nvPr/>
        </p:nvSpPr>
        <p:spPr>
          <a:xfrm>
            <a:off x="18630593" y="5887333"/>
            <a:ext cx="4686301" cy="152401"/>
          </a:xfrm>
          <a:prstGeom prst="rect">
            <a:avLst/>
          </a:prstGeom>
          <a:solidFill>
            <a:srgbClr val="FF7AB6"/>
          </a:solidFill>
          <a:ln w="3175">
            <a:solidFill>
              <a:srgbClr val="FF7AB6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2" name="Fastest Growth"/>
          <p:cNvSpPr txBox="1"/>
          <p:nvPr/>
        </p:nvSpPr>
        <p:spPr>
          <a:xfrm>
            <a:off x="18881880" y="6226686"/>
            <a:ext cx="2148940" cy="483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>
              <a:defRPr sz="2400">
                <a:solidFill>
                  <a:srgbClr val="667085"/>
                </a:solidFill>
              </a:defRPr>
            </a:lvl1pPr>
          </a:lstStyle>
          <a:p>
            <a:r>
              <a:t>Fastest Growth</a:t>
            </a:r>
          </a:p>
        </p:txBody>
      </p:sp>
      <p:sp>
        <p:nvSpPr>
          <p:cNvPr id="43" name="Cupa"/>
          <p:cNvSpPr txBox="1"/>
          <p:nvPr/>
        </p:nvSpPr>
        <p:spPr>
          <a:xfrm>
            <a:off x="19179233" y="6825270"/>
            <a:ext cx="2148941" cy="797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>
              <a:defRPr sz="4800">
                <a:solidFill>
                  <a:srgbClr val="171B3A"/>
                </a:solidFill>
              </a:defRPr>
            </a:lvl1pPr>
          </a:lstStyle>
          <a:p>
            <a:r>
              <a:t>Cupa</a:t>
            </a:r>
          </a:p>
        </p:txBody>
      </p:sp>
      <p:sp>
        <p:nvSpPr>
          <p:cNvPr id="44" name="+12.7% WoW"/>
          <p:cNvSpPr txBox="1"/>
          <p:nvPr/>
        </p:nvSpPr>
        <p:spPr>
          <a:xfrm>
            <a:off x="19179233" y="7714545"/>
            <a:ext cx="2288907" cy="483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>
              <a:defRPr sz="2400">
                <a:solidFill>
                  <a:srgbClr val="667085"/>
                </a:solidFill>
              </a:defRPr>
            </a:lvl1pPr>
          </a:lstStyle>
          <a:p>
            <a:r>
              <a:t>+12.7% WoW</a:t>
            </a:r>
          </a:p>
        </p:txBody>
      </p:sp>
      <p:sp>
        <p:nvSpPr>
          <p:cNvPr id="45" name="OTT WAU WEEKLY"/>
          <p:cNvSpPr txBox="1"/>
          <p:nvPr/>
        </p:nvSpPr>
        <p:spPr>
          <a:xfrm>
            <a:off x="1463039" y="647700"/>
            <a:ext cx="4770122" cy="4245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>
              <a:defRPr sz="1800">
                <a:solidFill>
                  <a:srgbClr val="5B3FFF"/>
                </a:solidFill>
              </a:defRPr>
            </a:lvl1pPr>
          </a:lstStyle>
          <a:p>
            <a:r>
              <a:t>OTT WAU WEEKLY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  <p:sp>
        <p:nvSpPr>
          <p:cNvPr id="50" name="직사각형"/>
          <p:cNvSpPr/>
          <p:nvPr/>
        </p:nvSpPr>
        <p:spPr>
          <a:xfrm>
            <a:off x="0" y="0"/>
            <a:ext cx="24384000" cy="342900"/>
          </a:xfrm>
          <a:prstGeom prst="rect">
            <a:avLst/>
          </a:prstGeom>
          <a:solidFill>
            <a:srgbClr val="5B3FFF"/>
          </a:solidFill>
          <a:ln w="3175">
            <a:solidFill>
              <a:srgbClr val="5B3FF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1" name="OTT WAU WEEKLY"/>
          <p:cNvSpPr txBox="1"/>
          <p:nvPr/>
        </p:nvSpPr>
        <p:spPr>
          <a:xfrm>
            <a:off x="1463039" y="647700"/>
            <a:ext cx="4770122" cy="4245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>
              <a:defRPr sz="1800">
                <a:solidFill>
                  <a:srgbClr val="5B3FFF"/>
                </a:solidFill>
              </a:defRPr>
            </a:lvl1pPr>
          </a:lstStyle>
          <a:p>
            <a:r>
              <a:t>OTT WAU WEEKLY</a:t>
            </a:r>
          </a:p>
        </p:txBody>
      </p:sp>
      <p:sp>
        <p:nvSpPr>
          <p:cNvPr id="52" name="Service WAU Ranking"/>
          <p:cNvSpPr txBox="1"/>
          <p:nvPr/>
        </p:nvSpPr>
        <p:spPr>
          <a:xfrm>
            <a:off x="1463039" y="1295400"/>
            <a:ext cx="9677197" cy="98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>
              <a:defRPr sz="6200" i="1">
                <a:solidFill>
                  <a:srgbClr val="171B3A"/>
                </a:solidFill>
              </a:defRPr>
            </a:lvl1pPr>
          </a:lstStyle>
          <a:p>
            <a:r>
              <a:t>Service WAU Ranking</a:t>
            </a:r>
          </a:p>
        </p:txBody>
      </p:sp>
      <p:graphicFrame>
        <p:nvGraphicFramePr>
          <p:cNvPr id="53" name="표 1"/>
          <p:cNvGraphicFramePr/>
          <p:nvPr>
            <p:extLst>
              <p:ext uri="{D42A27DB-BD31-4B8C-83A1-F6EECF244321}">
                <p14:modId xmlns:p14="http://schemas.microsoft.com/office/powerpoint/2010/main" val="72598811"/>
              </p:ext>
            </p:extLst>
          </p:nvPr>
        </p:nvGraphicFramePr>
        <p:xfrm>
          <a:off x="2197947" y="3092479"/>
          <a:ext cx="20215483" cy="8815527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11903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1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0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4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41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05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79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764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5985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259361"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500">
                          <a:solidFill>
                            <a:srgbClr val="FFFFFF"/>
                          </a:solidFill>
                          <a:sym typeface="Calibri"/>
                        </a:rPr>
                        <a:t>Rank</a:t>
                      </a:r>
                    </a:p>
                  </a:txBody>
                  <a:tcPr marL="0" marR="0" marT="0" marB="0" anchor="ctr" horzOverflow="overflow">
                    <a:solidFill>
                      <a:srgbClr val="5B3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500">
                          <a:solidFill>
                            <a:srgbClr val="FFFFFF"/>
                          </a:solidFill>
                          <a:sym typeface="Calibri"/>
                        </a:rPr>
                        <a:t>Service</a:t>
                      </a:r>
                    </a:p>
                  </a:txBody>
                  <a:tcPr marL="0" marR="0" marT="0" marB="0" anchor="ctr" horzOverflow="overflow">
                    <a:solidFill>
                      <a:srgbClr val="5B3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500">
                          <a:solidFill>
                            <a:srgbClr val="FFFFFF"/>
                          </a:solidFill>
                          <a:sym typeface="Calibri"/>
                        </a:rPr>
                        <a:t>WAU</a:t>
                      </a:r>
                    </a:p>
                  </a:txBody>
                  <a:tcPr marL="0" marR="0" marT="0" marB="0" anchor="ctr" horzOverflow="overflow">
                    <a:solidFill>
                      <a:srgbClr val="5B3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500">
                          <a:solidFill>
                            <a:srgbClr val="FFFFFF"/>
                          </a:solidFill>
                          <a:sym typeface="Calibri"/>
                        </a:rPr>
                        <a:t>WoW</a:t>
                      </a:r>
                    </a:p>
                  </a:txBody>
                  <a:tcPr marL="0" marR="0" marT="0" marB="0" anchor="ctr" horzOverflow="overflow">
                    <a:solidFill>
                      <a:srgbClr val="5B3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500">
                          <a:solidFill>
                            <a:srgbClr val="FFFFFF"/>
                          </a:solidFill>
                          <a:sym typeface="Calibri"/>
                        </a:rPr>
                        <a:t>Share</a:t>
                      </a:r>
                    </a:p>
                  </a:txBody>
                  <a:tcPr marL="0" marR="0" marT="0" marB="0" anchor="ctr" horzOverflow="overflow">
                    <a:solidFill>
                      <a:srgbClr val="5B3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500">
                          <a:solidFill>
                            <a:srgbClr val="FFFFFF"/>
                          </a:solidFill>
                          <a:sym typeface="Calibri"/>
                        </a:rPr>
                        <a:t>신규 설치</a:t>
                      </a:r>
                    </a:p>
                  </a:txBody>
                  <a:tcPr marL="0" marR="0" marT="0" marB="0" anchor="ctr" horzOverflow="overflow">
                    <a:solidFill>
                      <a:srgbClr val="5B3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500">
                          <a:solidFill>
                            <a:srgbClr val="FFFFFF"/>
                          </a:solidFill>
                          <a:sym typeface="Calibri"/>
                        </a:rPr>
                        <a:t>WoW</a:t>
                      </a:r>
                    </a:p>
                  </a:txBody>
                  <a:tcPr marL="0" marR="0" marT="0" marB="0" anchor="ctr" horzOverflow="overflow">
                    <a:solidFill>
                      <a:srgbClr val="5B3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500">
                          <a:solidFill>
                            <a:srgbClr val="FFFFFF"/>
                          </a:solidFill>
                          <a:sym typeface="Calibri"/>
                        </a:rPr>
                        <a:t>ATS</a:t>
                      </a:r>
                    </a:p>
                  </a:txBody>
                  <a:tcPr marL="0" marR="0" marT="0" marB="0" anchor="ctr" horzOverflow="overflow">
                    <a:solidFill>
                      <a:srgbClr val="5B3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2500" dirty="0" err="1">
                          <a:solidFill>
                            <a:srgbClr val="FFFFFF"/>
                          </a:solidFill>
                          <a:sym typeface="Calibri"/>
                        </a:rPr>
                        <a:t>주요</a:t>
                      </a:r>
                      <a:r>
                        <a:rPr sz="2500" dirty="0">
                          <a:solidFill>
                            <a:srgbClr val="FFFFFF"/>
                          </a:solidFill>
                          <a:sym typeface="Calibri"/>
                        </a:rPr>
                        <a:t> </a:t>
                      </a:r>
                      <a:r>
                        <a:rPr sz="2500" dirty="0" err="1">
                          <a:solidFill>
                            <a:srgbClr val="FFFFFF"/>
                          </a:solidFill>
                          <a:sym typeface="Calibri"/>
                        </a:rPr>
                        <a:t>특징</a:t>
                      </a:r>
                      <a:endParaRPr sz="2500" dirty="0">
                        <a:solidFill>
                          <a:srgbClr val="FFFFFF"/>
                        </a:solidFill>
                        <a:sym typeface="Calibri"/>
                      </a:endParaRPr>
                    </a:p>
                  </a:txBody>
                  <a:tcPr marL="0" marR="0" marT="0" marB="0" anchor="ctr" horzOverflow="overflow">
                    <a:solidFill>
                      <a:srgbClr val="5B3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936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Nexa</a:t>
                      </a:r>
                    </a:p>
                  </a:txBody>
                  <a:tcPr marL="0" marR="0" marT="0" marB="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3000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8,292,725</a:t>
                      </a:r>
                    </a:p>
                  </a:txBody>
                  <a:tcPr marL="0" marR="0" marT="0" marB="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solidFill>
                            <a:srgbClr val="0433FF"/>
                          </a:solidFill>
                          <a:sym typeface="Calibri"/>
                        </a:rPr>
                        <a:t>-0.5%</a:t>
                      </a:r>
                    </a:p>
                  </a:txBody>
                  <a:tcPr marL="0" marR="0" marT="0" marB="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38.3%</a:t>
                      </a:r>
                    </a:p>
                  </a:txBody>
                  <a:tcPr marL="0" marR="0" marT="0" marB="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107,572</a:t>
                      </a:r>
                    </a:p>
                  </a:txBody>
                  <a:tcPr marL="0" marR="0" marT="0" marB="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solidFill>
                            <a:srgbClr val="FF2600"/>
                          </a:solidFill>
                          <a:sym typeface="Calibri"/>
                        </a:rPr>
                        <a:t>2.5%</a:t>
                      </a:r>
                    </a:p>
                  </a:txBody>
                  <a:tcPr marL="0" marR="0" marT="0" marB="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3.98</a:t>
                      </a:r>
                    </a:p>
                  </a:txBody>
                  <a:tcPr marL="0" marR="0" marT="0" marB="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700" dirty="0" err="1">
                          <a:sym typeface="Calibri"/>
                        </a:rPr>
                        <a:t>큰</a:t>
                      </a:r>
                      <a:r>
                        <a:rPr sz="2700" dirty="0">
                          <a:sym typeface="Calibri"/>
                        </a:rPr>
                        <a:t> </a:t>
                      </a:r>
                      <a:r>
                        <a:rPr sz="2700" dirty="0" err="1">
                          <a:sym typeface="Calibri"/>
                        </a:rPr>
                        <a:t>변화</a:t>
                      </a:r>
                      <a:r>
                        <a:rPr sz="2700" dirty="0">
                          <a:sym typeface="Calibri"/>
                        </a:rPr>
                        <a:t> </a:t>
                      </a:r>
                      <a:r>
                        <a:rPr sz="2700" dirty="0" err="1">
                          <a:sym typeface="Calibri"/>
                        </a:rPr>
                        <a:t>없음</a:t>
                      </a:r>
                      <a:endParaRPr sz="2700" dirty="0">
                        <a:sym typeface="Calibri"/>
                      </a:endParaRPr>
                    </a:p>
                  </a:txBody>
                  <a:tcPr marL="0" marR="0" marT="0" marB="0" anchor="ctr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936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Cupa</a:t>
                      </a:r>
                    </a:p>
                  </a:txBody>
                  <a:tcPr marL="0" marR="0" marT="0" marB="0" anchor="ctr" horzOverflow="overflow"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marR="50800" algn="ctr">
                        <a:defRPr sz="1800"/>
                      </a:pPr>
                      <a:r>
                        <a:rPr sz="3000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4,727,426</a:t>
                      </a:r>
                    </a:p>
                  </a:txBody>
                  <a:tcPr marL="0" marR="0" marT="0" marB="0" anchor="ctr" horzOverflow="overflow"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solidFill>
                            <a:srgbClr val="FF2600"/>
                          </a:solidFill>
                          <a:sym typeface="Calibri"/>
                        </a:rPr>
                        <a:t>12.7%</a:t>
                      </a:r>
                    </a:p>
                  </a:txBody>
                  <a:tcPr marL="0" marR="0" marT="0" marB="0" anchor="ctr" horzOverflow="overflow"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21.9%</a:t>
                      </a:r>
                    </a:p>
                  </a:txBody>
                  <a:tcPr marL="0" marR="0" marT="0" marB="0" anchor="ctr" horzOverflow="overflow"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213,890</a:t>
                      </a:r>
                    </a:p>
                  </a:txBody>
                  <a:tcPr marL="0" marR="0" marT="0" marB="0" anchor="ctr" horzOverflow="overflow"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solidFill>
                            <a:srgbClr val="FF2600"/>
                          </a:solidFill>
                          <a:sym typeface="Calibri"/>
                        </a:rPr>
                        <a:t>122.6%</a:t>
                      </a:r>
                    </a:p>
                  </a:txBody>
                  <a:tcPr marL="0" marR="0" marT="0" marB="0" anchor="ctr" horzOverflow="overflow"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2.83</a:t>
                      </a:r>
                    </a:p>
                  </a:txBody>
                  <a:tcPr marL="0" marR="0" marT="0" marB="0" anchor="ctr" horzOverflow="overflow"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700">
                          <a:sym typeface="Calibri"/>
                        </a:rPr>
                        <a:t>독점 경기와 함께 주요 지표 급증</a:t>
                      </a:r>
                    </a:p>
                  </a:txBody>
                  <a:tcPr marL="0" marR="0" marT="0" marB="0" anchor="ctr" horzOverflow="overflow">
                    <a:solidFill>
                      <a:srgbClr val="F1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936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Tiva</a:t>
                      </a:r>
                    </a:p>
                  </a:txBody>
                  <a:tcPr marL="0" marR="0" marT="0" marB="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3000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4,461,468</a:t>
                      </a:r>
                    </a:p>
                  </a:txBody>
                  <a:tcPr marL="0" marR="0" marT="0" marB="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solidFill>
                            <a:srgbClr val="FF2600"/>
                          </a:solidFill>
                          <a:sym typeface="Calibri"/>
                        </a:rPr>
                        <a:t>3.5%</a:t>
                      </a:r>
                    </a:p>
                  </a:txBody>
                  <a:tcPr marL="0" marR="0" marT="0" marB="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0.6%</a:t>
                      </a:r>
                    </a:p>
                  </a:txBody>
                  <a:tcPr marL="0" marR="0" marT="0" marB="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105,902</a:t>
                      </a:r>
                    </a:p>
                  </a:txBody>
                  <a:tcPr marL="0" marR="0" marT="0" marB="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solidFill>
                            <a:srgbClr val="FF2600"/>
                          </a:solidFill>
                          <a:sym typeface="Calibri"/>
                        </a:rPr>
                        <a:t>27.8%</a:t>
                      </a:r>
                    </a:p>
                  </a:txBody>
                  <a:tcPr marL="0" marR="0" marT="0" marB="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3.60</a:t>
                      </a:r>
                    </a:p>
                  </a:txBody>
                  <a:tcPr marL="0" marR="0" marT="0" marB="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700">
                          <a:sym typeface="Calibri"/>
                        </a:rPr>
                        <a:t>신규 유입과 이용자 규모 함께 증가</a:t>
                      </a:r>
                    </a:p>
                  </a:txBody>
                  <a:tcPr marL="0" marR="0" marT="0" marB="0" anchor="ctr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936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Wavo</a:t>
                      </a:r>
                    </a:p>
                  </a:txBody>
                  <a:tcPr marL="0" marR="0" marT="0" marB="0" anchor="ctr" horzOverflow="overflow"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3000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2,159,285</a:t>
                      </a:r>
                    </a:p>
                  </a:txBody>
                  <a:tcPr marL="0" marR="0" marT="0" marB="0" anchor="ctr" horzOverflow="overflow"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solidFill>
                            <a:srgbClr val="0433FF"/>
                          </a:solidFill>
                          <a:sym typeface="Calibri"/>
                        </a:rPr>
                        <a:t>-0.6%</a:t>
                      </a:r>
                    </a:p>
                  </a:txBody>
                  <a:tcPr marL="0" marR="0" marT="0" marB="0" anchor="ctr" horzOverflow="overflow"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10.0%</a:t>
                      </a:r>
                    </a:p>
                  </a:txBody>
                  <a:tcPr marL="0" marR="0" marT="0" marB="0" anchor="ctr" horzOverflow="overflow"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24,893</a:t>
                      </a:r>
                    </a:p>
                  </a:txBody>
                  <a:tcPr marL="0" marR="0" marT="0" marB="0" anchor="ctr" horzOverflow="overflow"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solidFill>
                            <a:srgbClr val="0433FF"/>
                          </a:solidFill>
                          <a:sym typeface="Calibri"/>
                        </a:rPr>
                        <a:t>-7.2%</a:t>
                      </a:r>
                    </a:p>
                  </a:txBody>
                  <a:tcPr marL="0" marR="0" marT="0" marB="0" anchor="ctr" horzOverflow="overflow"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3.37</a:t>
                      </a:r>
                    </a:p>
                  </a:txBody>
                  <a:tcPr marL="0" marR="0" marT="0" marB="0" anchor="ctr" horzOverflow="overflow"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700">
                          <a:sym typeface="Calibri"/>
                        </a:rPr>
                        <a:t>이용자 소폭 감소, 이용 시간 증가</a:t>
                      </a:r>
                    </a:p>
                  </a:txBody>
                  <a:tcPr marL="0" marR="0" marT="0" marB="0" anchor="ctr" horzOverflow="overflow">
                    <a:solidFill>
                      <a:srgbClr val="F1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5936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Dizo</a:t>
                      </a:r>
                    </a:p>
                  </a:txBody>
                  <a:tcPr marL="0" marR="0" marT="0" marB="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3000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1,797,138</a:t>
                      </a:r>
                    </a:p>
                  </a:txBody>
                  <a:tcPr marL="0" marR="0" marT="0" marB="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solidFill>
                            <a:srgbClr val="0433FF"/>
                          </a:solidFill>
                          <a:sym typeface="Calibri"/>
                        </a:rPr>
                        <a:t>-4.6%</a:t>
                      </a:r>
                    </a:p>
                  </a:txBody>
                  <a:tcPr marL="0" marR="0" marT="0" marB="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8.3%</a:t>
                      </a:r>
                    </a:p>
                  </a:txBody>
                  <a:tcPr marL="0" marR="0" marT="0" marB="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35,686</a:t>
                      </a:r>
                    </a:p>
                  </a:txBody>
                  <a:tcPr marL="0" marR="0" marT="0" marB="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solidFill>
                            <a:srgbClr val="0433FF"/>
                          </a:solidFill>
                          <a:sym typeface="Calibri"/>
                        </a:rPr>
                        <a:t>-5.2%</a:t>
                      </a:r>
                    </a:p>
                  </a:txBody>
                  <a:tcPr marL="0" marR="0" marT="0" marB="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3.14</a:t>
                      </a:r>
                    </a:p>
                  </a:txBody>
                  <a:tcPr marL="0" marR="0" marT="0" marB="0" anchor="ctr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700" dirty="0">
                          <a:sym typeface="Calibri"/>
                        </a:rPr>
                        <a:t>WAU </a:t>
                      </a:r>
                      <a:r>
                        <a:rPr sz="2700" dirty="0" err="1">
                          <a:sym typeface="Calibri"/>
                        </a:rPr>
                        <a:t>와</a:t>
                      </a:r>
                      <a:r>
                        <a:rPr sz="2700" dirty="0">
                          <a:sym typeface="Calibri"/>
                        </a:rPr>
                        <a:t> </a:t>
                      </a:r>
                      <a:r>
                        <a:rPr sz="2700" dirty="0" err="1">
                          <a:sym typeface="Calibri"/>
                        </a:rPr>
                        <a:t>신규</a:t>
                      </a:r>
                      <a:r>
                        <a:rPr sz="2700" dirty="0">
                          <a:sym typeface="Calibri"/>
                        </a:rPr>
                        <a:t> </a:t>
                      </a:r>
                      <a:r>
                        <a:rPr sz="2700" dirty="0" err="1">
                          <a:sym typeface="Calibri"/>
                        </a:rPr>
                        <a:t>설치</a:t>
                      </a:r>
                      <a:r>
                        <a:rPr sz="2700" dirty="0">
                          <a:sym typeface="Calibri"/>
                        </a:rPr>
                        <a:t> </a:t>
                      </a:r>
                      <a:r>
                        <a:rPr sz="2700" dirty="0" err="1">
                          <a:sym typeface="Calibri"/>
                        </a:rPr>
                        <a:t>모두</a:t>
                      </a:r>
                      <a:r>
                        <a:rPr sz="2700" dirty="0">
                          <a:sym typeface="Calibri"/>
                        </a:rPr>
                        <a:t> </a:t>
                      </a:r>
                      <a:r>
                        <a:rPr sz="2700" dirty="0" err="1">
                          <a:sym typeface="Calibri"/>
                        </a:rPr>
                        <a:t>감소</a:t>
                      </a:r>
                      <a:r>
                        <a:rPr sz="2700" dirty="0">
                          <a:sym typeface="Calibri"/>
                        </a:rPr>
                        <a:t>, </a:t>
                      </a:r>
                      <a:r>
                        <a:rPr sz="2700" dirty="0" err="1">
                          <a:sym typeface="Calibri"/>
                        </a:rPr>
                        <a:t>가장</a:t>
                      </a:r>
                      <a:r>
                        <a:rPr sz="2700" dirty="0">
                          <a:sym typeface="Calibri"/>
                        </a:rPr>
                        <a:t> </a:t>
                      </a:r>
                      <a:r>
                        <a:rPr sz="2700" dirty="0" err="1">
                          <a:sym typeface="Calibri"/>
                        </a:rPr>
                        <a:t>뚜렷한</a:t>
                      </a:r>
                      <a:r>
                        <a:rPr sz="2700" dirty="0">
                          <a:sym typeface="Calibri"/>
                        </a:rPr>
                        <a:t> </a:t>
                      </a:r>
                      <a:r>
                        <a:rPr sz="2700" dirty="0" err="1">
                          <a:sym typeface="Calibri"/>
                        </a:rPr>
                        <a:t>하락세</a:t>
                      </a:r>
                      <a:endParaRPr sz="2700" dirty="0">
                        <a:sym typeface="Calibri"/>
                      </a:endParaRPr>
                    </a:p>
                  </a:txBody>
                  <a:tcPr marL="0" marR="0" marT="0" marB="0" anchor="ctr" horzOverflow="overflow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59361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Wacha</a:t>
                      </a:r>
                    </a:p>
                  </a:txBody>
                  <a:tcPr marL="0" marR="0" marT="0" marB="0" anchor="ctr" horzOverflow="overflow"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3000">
                          <a:latin typeface="Carlito"/>
                          <a:ea typeface="Carlito"/>
                          <a:cs typeface="Carlito"/>
                          <a:sym typeface="Carlito"/>
                        </a:rPr>
                        <a:t>188,506</a:t>
                      </a:r>
                    </a:p>
                  </a:txBody>
                  <a:tcPr marL="0" marR="0" marT="0" marB="0" anchor="ctr" horzOverflow="overflow"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solidFill>
                            <a:srgbClr val="0433FF"/>
                          </a:solidFill>
                          <a:sym typeface="Calibri"/>
                        </a:rPr>
                        <a:t>-0.6%</a:t>
                      </a:r>
                    </a:p>
                  </a:txBody>
                  <a:tcPr marL="0" marR="0" marT="0" marB="0" anchor="ctr" horzOverflow="overflow"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0.9%</a:t>
                      </a:r>
                    </a:p>
                  </a:txBody>
                  <a:tcPr marL="0" marR="0" marT="0" marB="0" anchor="ctr" horzOverflow="overflow"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2,723</a:t>
                      </a:r>
                    </a:p>
                  </a:txBody>
                  <a:tcPr marL="0" marR="0" marT="0" marB="0" anchor="ctr" horzOverflow="overflow"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400">
                          <a:solidFill>
                            <a:srgbClr val="FF2600"/>
                          </a:solidFill>
                          <a:sym typeface="Calibri"/>
                        </a:rPr>
                        <a:t>6.5%</a:t>
                      </a:r>
                    </a:p>
                  </a:txBody>
                  <a:tcPr marL="0" marR="0" marT="0" marB="0" anchor="ctr" horzOverflow="overflow"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900">
                          <a:sym typeface="Calibri"/>
                        </a:rPr>
                        <a:t>2.84</a:t>
                      </a:r>
                    </a:p>
                  </a:txBody>
                  <a:tcPr marL="0" marR="0" marT="0" marB="0" anchor="ctr" horzOverflow="overflow">
                    <a:solidFill>
                      <a:srgbClr val="F1EE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700" dirty="0" err="1">
                          <a:sym typeface="Calibri"/>
                        </a:rPr>
                        <a:t>큰</a:t>
                      </a:r>
                      <a:r>
                        <a:rPr sz="2700" dirty="0">
                          <a:sym typeface="Calibri"/>
                        </a:rPr>
                        <a:t> </a:t>
                      </a:r>
                      <a:r>
                        <a:rPr sz="2700" dirty="0" err="1">
                          <a:sym typeface="Calibri"/>
                        </a:rPr>
                        <a:t>변화</a:t>
                      </a:r>
                      <a:r>
                        <a:rPr sz="2700" dirty="0">
                          <a:sym typeface="Calibri"/>
                        </a:rPr>
                        <a:t> </a:t>
                      </a:r>
                      <a:r>
                        <a:rPr sz="2700" dirty="0" err="1">
                          <a:sym typeface="Calibri"/>
                        </a:rPr>
                        <a:t>없음</a:t>
                      </a:r>
                      <a:endParaRPr sz="2700" dirty="0">
                        <a:sym typeface="Calibri"/>
                      </a:endParaRPr>
                    </a:p>
                  </a:txBody>
                  <a:tcPr marL="0" marR="0" marT="0" marB="0" anchor="ctr" horzOverflow="overflow">
                    <a:solidFill>
                      <a:srgbClr val="F1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모서리가 둥근 직사각형"/>
          <p:cNvSpPr/>
          <p:nvPr/>
        </p:nvSpPr>
        <p:spPr>
          <a:xfrm>
            <a:off x="2183870" y="10001314"/>
            <a:ext cx="20016259" cy="2901354"/>
          </a:xfrm>
          <a:prstGeom prst="roundRect">
            <a:avLst>
              <a:gd name="adj" fmla="val 10504"/>
            </a:avLst>
          </a:prstGeom>
          <a:solidFill>
            <a:srgbClr val="171B3A"/>
          </a:solidFill>
          <a:ln w="12700">
            <a:solidFill>
              <a:srgbClr val="171B3A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8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  <p:sp>
        <p:nvSpPr>
          <p:cNvPr id="59" name="직사각형"/>
          <p:cNvSpPr/>
          <p:nvPr/>
        </p:nvSpPr>
        <p:spPr>
          <a:xfrm>
            <a:off x="0" y="0"/>
            <a:ext cx="24384000" cy="342900"/>
          </a:xfrm>
          <a:prstGeom prst="rect">
            <a:avLst/>
          </a:prstGeom>
          <a:solidFill>
            <a:srgbClr val="5B3FFF"/>
          </a:solidFill>
          <a:ln w="3175">
            <a:solidFill>
              <a:srgbClr val="5B3FF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" name="OTT WAU WEEKLY"/>
          <p:cNvSpPr txBox="1"/>
          <p:nvPr/>
        </p:nvSpPr>
        <p:spPr>
          <a:xfrm>
            <a:off x="1463039" y="647700"/>
            <a:ext cx="4770122" cy="4245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>
              <a:defRPr sz="1800">
                <a:solidFill>
                  <a:srgbClr val="5B3FFF"/>
                </a:solidFill>
              </a:defRPr>
            </a:lvl1pPr>
          </a:lstStyle>
          <a:p>
            <a:r>
              <a:t>OTT WAU WEEKLY</a:t>
            </a:r>
          </a:p>
        </p:txBody>
      </p:sp>
      <p:sp>
        <p:nvSpPr>
          <p:cNvPr id="61" name="Week-over-week Movement"/>
          <p:cNvSpPr txBox="1"/>
          <p:nvPr/>
        </p:nvSpPr>
        <p:spPr>
          <a:xfrm>
            <a:off x="1463039" y="1295400"/>
            <a:ext cx="11466438" cy="98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>
              <a:defRPr sz="6200" i="1">
                <a:solidFill>
                  <a:srgbClr val="171B3A"/>
                </a:solidFill>
              </a:defRPr>
            </a:lvl1pPr>
          </a:lstStyle>
          <a:p>
            <a:r>
              <a:t>Week-over-week Movement</a:t>
            </a:r>
          </a:p>
        </p:txBody>
      </p:sp>
      <p:graphicFrame>
        <p:nvGraphicFramePr>
          <p:cNvPr id="62" name="WAU"/>
          <p:cNvGraphicFramePr/>
          <p:nvPr/>
        </p:nvGraphicFramePr>
        <p:xfrm>
          <a:off x="1452388" y="2750459"/>
          <a:ext cx="9820625" cy="628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3" name="New Installs"/>
          <p:cNvGraphicFramePr/>
          <p:nvPr/>
        </p:nvGraphicFramePr>
        <p:xfrm>
          <a:off x="12300105" y="2750459"/>
          <a:ext cx="10044573" cy="628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4" name="26-05-25 vs. 26-05-18"/>
          <p:cNvSpPr txBox="1"/>
          <p:nvPr/>
        </p:nvSpPr>
        <p:spPr>
          <a:xfrm>
            <a:off x="18594390" y="1732627"/>
            <a:ext cx="3833962" cy="450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ctr" defTabSz="914400">
              <a:defRPr sz="3400"/>
            </a:lvl1pPr>
          </a:lstStyle>
          <a:p>
            <a:r>
              <a:t>26-05-25 vs. 26-05-18</a:t>
            </a:r>
          </a:p>
        </p:txBody>
      </p:sp>
      <p:sp>
        <p:nvSpPr>
          <p:cNvPr id="65" name="Cupa : WAU (12.7%) 및 신규 설치 (122.6%) 상승 → 독점 경기 중계 이벤트 가능성…"/>
          <p:cNvSpPr txBox="1"/>
          <p:nvPr/>
        </p:nvSpPr>
        <p:spPr>
          <a:xfrm>
            <a:off x="2762610" y="10279346"/>
            <a:ext cx="16524849" cy="152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tIns="91439" bIns="91439">
            <a:spAutoFit/>
          </a:bodyPr>
          <a:lstStyle/>
          <a:p>
            <a:pPr marL="368299" indent="-368299">
              <a:lnSpc>
                <a:spcPct val="130000"/>
              </a:lnSpc>
              <a:buSzPct val="75000"/>
              <a:buChar char="•"/>
              <a:defRPr sz="3500">
                <a:solidFill>
                  <a:srgbClr val="7FD3FB"/>
                </a:solidFill>
              </a:defRPr>
            </a:pPr>
            <a:r>
              <a:rPr dirty="0" err="1"/>
              <a:t>Cupa</a:t>
            </a:r>
            <a:r>
              <a:rPr dirty="0"/>
              <a:t> : WAU (12.7%)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신규</a:t>
            </a:r>
            <a:r>
              <a:rPr dirty="0"/>
              <a:t> </a:t>
            </a:r>
            <a:r>
              <a:rPr dirty="0" err="1"/>
              <a:t>설치</a:t>
            </a:r>
            <a:r>
              <a:rPr dirty="0"/>
              <a:t> (122.6%) </a:t>
            </a:r>
            <a:r>
              <a:rPr dirty="0" err="1"/>
              <a:t>상승</a:t>
            </a:r>
            <a:r>
              <a:rPr dirty="0"/>
              <a:t> → </a:t>
            </a:r>
            <a:r>
              <a:rPr dirty="0" err="1"/>
              <a:t>독점</a:t>
            </a:r>
            <a:r>
              <a:rPr dirty="0"/>
              <a:t> </a:t>
            </a:r>
            <a:r>
              <a:rPr dirty="0" err="1"/>
              <a:t>경기</a:t>
            </a:r>
            <a:r>
              <a:rPr dirty="0"/>
              <a:t> </a:t>
            </a:r>
            <a:r>
              <a:rPr dirty="0" err="1"/>
              <a:t>중계</a:t>
            </a:r>
            <a:r>
              <a:rPr dirty="0"/>
              <a:t> </a:t>
            </a:r>
            <a:r>
              <a:rPr dirty="0" err="1"/>
              <a:t>이벤트</a:t>
            </a:r>
            <a:r>
              <a:rPr dirty="0"/>
              <a:t> </a:t>
            </a:r>
            <a:r>
              <a:rPr dirty="0" err="1"/>
              <a:t>가능성</a:t>
            </a:r>
            <a:endParaRPr dirty="0"/>
          </a:p>
          <a:p>
            <a:pPr marL="368299" indent="-368299">
              <a:lnSpc>
                <a:spcPct val="130000"/>
              </a:lnSpc>
              <a:buSzPct val="75000"/>
              <a:buChar char="•"/>
              <a:defRPr sz="3500">
                <a:solidFill>
                  <a:srgbClr val="EE81B4"/>
                </a:solidFill>
              </a:defRPr>
            </a:pPr>
            <a:r>
              <a:rPr dirty="0" err="1"/>
              <a:t>Tiva</a:t>
            </a:r>
            <a:r>
              <a:rPr dirty="0"/>
              <a:t> :  </a:t>
            </a:r>
            <a:r>
              <a:rPr dirty="0" err="1"/>
              <a:t>별도</a:t>
            </a:r>
            <a:r>
              <a:rPr dirty="0"/>
              <a:t> </a:t>
            </a:r>
            <a:r>
              <a:rPr dirty="0" err="1"/>
              <a:t>이벤트</a:t>
            </a:r>
            <a:r>
              <a:rPr dirty="0"/>
              <a:t> </a:t>
            </a:r>
            <a:r>
              <a:rPr dirty="0" err="1"/>
              <a:t>없이</a:t>
            </a:r>
            <a:r>
              <a:rPr dirty="0"/>
              <a:t> WAU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신규</a:t>
            </a:r>
            <a:r>
              <a:rPr dirty="0"/>
              <a:t> </a:t>
            </a:r>
            <a:r>
              <a:rPr dirty="0" err="1"/>
              <a:t>설치</a:t>
            </a:r>
            <a:r>
              <a:rPr dirty="0"/>
              <a:t> </a:t>
            </a:r>
            <a:r>
              <a:rPr dirty="0" err="1"/>
              <a:t>증가</a:t>
            </a:r>
            <a:r>
              <a:rPr dirty="0"/>
              <a:t> → </a:t>
            </a:r>
            <a:r>
              <a:rPr dirty="0" err="1"/>
              <a:t>추가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</a:t>
            </a:r>
            <a:r>
              <a:rPr dirty="0" err="1"/>
              <a:t>필요</a:t>
            </a:r>
            <a:endParaRPr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  <p:sp>
        <p:nvSpPr>
          <p:cNvPr id="70" name="직사각형"/>
          <p:cNvSpPr/>
          <p:nvPr/>
        </p:nvSpPr>
        <p:spPr>
          <a:xfrm>
            <a:off x="0" y="0"/>
            <a:ext cx="24384000" cy="342900"/>
          </a:xfrm>
          <a:prstGeom prst="rect">
            <a:avLst/>
          </a:prstGeom>
          <a:solidFill>
            <a:srgbClr val="5B3FFF"/>
          </a:solidFill>
          <a:ln w="3175">
            <a:solidFill>
              <a:srgbClr val="5B3FF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1" name="OTT WAU WEEKLY"/>
          <p:cNvSpPr txBox="1"/>
          <p:nvPr/>
        </p:nvSpPr>
        <p:spPr>
          <a:xfrm>
            <a:off x="1463039" y="647700"/>
            <a:ext cx="4770122" cy="4245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>
              <a:defRPr sz="1800">
                <a:solidFill>
                  <a:srgbClr val="5B3FFF"/>
                </a:solidFill>
              </a:defRPr>
            </a:lvl1pPr>
          </a:lstStyle>
          <a:p>
            <a:r>
              <a:t>OTT WAU WEEKLY</a:t>
            </a:r>
          </a:p>
        </p:txBody>
      </p:sp>
      <p:sp>
        <p:nvSpPr>
          <p:cNvPr id="72" name="8-Week Trend"/>
          <p:cNvSpPr txBox="1"/>
          <p:nvPr/>
        </p:nvSpPr>
        <p:spPr>
          <a:xfrm>
            <a:off x="1463039" y="1295400"/>
            <a:ext cx="7282412" cy="98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>
            <a:lvl1pPr>
              <a:defRPr sz="6200" i="1">
                <a:solidFill>
                  <a:srgbClr val="171B3A"/>
                </a:solidFill>
              </a:defRPr>
            </a:lvl1pPr>
          </a:lstStyle>
          <a:p>
            <a:r>
              <a:t>8-Week Trend</a:t>
            </a:r>
          </a:p>
        </p:txBody>
      </p:sp>
      <p:graphicFrame>
        <p:nvGraphicFramePr>
          <p:cNvPr id="73" name="Average Time Spent"/>
          <p:cNvGraphicFramePr/>
          <p:nvPr/>
        </p:nvGraphicFramePr>
        <p:xfrm>
          <a:off x="1316632" y="2797604"/>
          <a:ext cx="10064331" cy="65509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4" name="26-04-06 ~ 26-05-25"/>
          <p:cNvSpPr txBox="1"/>
          <p:nvPr/>
        </p:nvSpPr>
        <p:spPr>
          <a:xfrm>
            <a:off x="18592800" y="1727200"/>
            <a:ext cx="3578002" cy="45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algn="ctr" defTabSz="914400">
              <a:defRPr sz="3400"/>
            </a:lvl1pPr>
          </a:lstStyle>
          <a:p>
            <a:r>
              <a:t>26-04-06 ~ 26-05-25</a:t>
            </a:r>
          </a:p>
        </p:txBody>
      </p:sp>
      <p:graphicFrame>
        <p:nvGraphicFramePr>
          <p:cNvPr id="75" name="New Installs"/>
          <p:cNvGraphicFramePr/>
          <p:nvPr/>
        </p:nvGraphicFramePr>
        <p:xfrm>
          <a:off x="12300072" y="2797604"/>
          <a:ext cx="10152524" cy="65509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6" name="모서리가 둥근 직사각형"/>
          <p:cNvSpPr/>
          <p:nvPr/>
        </p:nvSpPr>
        <p:spPr>
          <a:xfrm>
            <a:off x="2183870" y="10003032"/>
            <a:ext cx="20016259" cy="2897675"/>
          </a:xfrm>
          <a:prstGeom prst="roundRect">
            <a:avLst>
              <a:gd name="adj" fmla="val 10518"/>
            </a:avLst>
          </a:prstGeom>
          <a:solidFill>
            <a:srgbClr val="171B3A"/>
          </a:solidFill>
          <a:ln w="12700">
            <a:solidFill>
              <a:srgbClr val="171B3A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7" name="Nexa : 가장 높은 WAU 에도 가장 높은 ATS 꾸준히 유지…"/>
          <p:cNvSpPr txBox="1"/>
          <p:nvPr/>
        </p:nvSpPr>
        <p:spPr>
          <a:xfrm>
            <a:off x="2762611" y="10279346"/>
            <a:ext cx="15614014" cy="2345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tIns="91439" bIns="91439">
            <a:spAutoFit/>
          </a:bodyPr>
          <a:lstStyle/>
          <a:p>
            <a:pPr marL="368299" indent="-368299">
              <a:lnSpc>
                <a:spcPct val="130000"/>
              </a:lnSpc>
              <a:buSzPct val="75000"/>
              <a:buChar char="•"/>
              <a:defRPr sz="3500">
                <a:solidFill>
                  <a:srgbClr val="7FD3FB"/>
                </a:solidFill>
              </a:defRPr>
            </a:pPr>
            <a:r>
              <a:t>Nexa : 가장 높은 WAU 에도 가장 높은 ATS 꾸준히 유지</a:t>
            </a:r>
          </a:p>
          <a:p>
            <a:pPr marL="368299" indent="-368299">
              <a:lnSpc>
                <a:spcPct val="130000"/>
              </a:lnSpc>
              <a:buSzPct val="75000"/>
              <a:buChar char="•"/>
              <a:defRPr sz="3500">
                <a:solidFill>
                  <a:srgbClr val="EE81B4"/>
                </a:solidFill>
              </a:defRPr>
            </a:pPr>
            <a:r>
              <a:t>Tiva : WAU 대비 상대적으로 매우 높은 ATS 지속</a:t>
            </a:r>
          </a:p>
          <a:p>
            <a:pPr marL="368299" indent="-368299">
              <a:lnSpc>
                <a:spcPct val="130000"/>
              </a:lnSpc>
              <a:buSzPct val="75000"/>
              <a:buChar char="•"/>
              <a:defRPr sz="3500">
                <a:solidFill>
                  <a:srgbClr val="F4B76C"/>
                </a:solidFill>
              </a:defRPr>
            </a:pPr>
            <a:r>
              <a:t>Cupa : WAU 는 Tiva 와 비슷한 수준, ATS 는 상대적으로 가장 저조 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81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81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465</Words>
  <Application>Microsoft Macintosh PowerPoint</Application>
  <PresentationFormat>사용자 지정</PresentationFormat>
  <Paragraphs>111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Carlito</vt:lpstr>
      <vt:lpstr>Calibri</vt:lpstr>
      <vt:lpstr>Calibri Light</vt:lpstr>
      <vt:lpstr>Helvetica</vt:lpstr>
      <vt:lpstr>Helvetica Neue</vt:lpstr>
      <vt:lpstr>ChatGPT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Microsoft Office User</cp:lastModifiedBy>
  <cp:revision>1</cp:revision>
  <dcterms:modified xsi:type="dcterms:W3CDTF">2026-08-28T09:19:58Z</dcterms:modified>
</cp:coreProperties>
</file>